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70" r:id="rId12"/>
    <p:sldId id="266" r:id="rId13"/>
    <p:sldId id="267" r:id="rId14"/>
    <p:sldId id="268" r:id="rId15"/>
    <p:sldId id="269"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4F30C4D-0902-454A-ABDD-3BBCB3D25FE6}">
          <p14:sldIdLst>
            <p14:sldId id="256"/>
            <p14:sldId id="257"/>
            <p14:sldId id="258"/>
            <p14:sldId id="259"/>
            <p14:sldId id="260"/>
            <p14:sldId id="261"/>
            <p14:sldId id="262"/>
            <p14:sldId id="263"/>
            <p14:sldId id="264"/>
            <p14:sldId id="265"/>
            <p14:sldId id="270"/>
          </p14:sldIdLst>
        </p14:section>
        <p14:section name="Appendix" id="{5E318B57-A22C-C140-A1D5-380E1D3C369F}">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1444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2AB5D-1001-396B-FD07-82A53159F2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AD8455-E8F2-5022-78C0-C57D6394DE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0F4A64-D2A7-CB8A-001B-E80FA47FDC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D69DB6-4ABE-E48F-0FEA-E63450F8C84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97751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F3E"/>
        </a:solidFill>
        <a:effectLst/>
      </p:bgPr>
    </p:bg>
    <p:spTree>
      <p:nvGrpSpPr>
        <p:cNvPr id="1" name=""/>
        <p:cNvGrpSpPr/>
        <p:nvPr/>
      </p:nvGrpSpPr>
      <p:grpSpPr>
        <a:xfrm>
          <a:off x="0" y="0"/>
          <a:ext cx="0" cy="0"/>
          <a:chOff x="0" y="0"/>
          <a:chExt cx="0" cy="0"/>
        </a:xfrm>
      </p:grpSpPr>
      <p:sp>
        <p:nvSpPr>
          <p:cNvPr id="2" name="Shape 0"/>
          <p:cNvSpPr/>
          <p:nvPr/>
        </p:nvSpPr>
        <p:spPr>
          <a:xfrm>
            <a:off x="8778240" y="0"/>
            <a:ext cx="365760" cy="5143500"/>
          </a:xfrm>
          <a:prstGeom prst="rect">
            <a:avLst/>
          </a:prstGeom>
          <a:solidFill>
            <a:srgbClr val="FF9900"/>
          </a:solidFill>
          <a:ln/>
        </p:spPr>
        <p:txBody>
          <a:bodyPr/>
          <a:lstStyle/>
          <a:p>
            <a:endParaRPr lang="en-US"/>
          </a:p>
        </p:txBody>
      </p:sp>
      <p:sp>
        <p:nvSpPr>
          <p:cNvPr id="3" name="Text 1"/>
          <p:cNvSpPr/>
          <p:nvPr/>
        </p:nvSpPr>
        <p:spPr>
          <a:xfrm>
            <a:off x="731520" y="1280160"/>
            <a:ext cx="6858000" cy="2011680"/>
          </a:xfrm>
          <a:prstGeom prst="rect">
            <a:avLst/>
          </a:prstGeom>
          <a:noFill/>
          <a:ln/>
        </p:spPr>
        <p:txBody>
          <a:bodyPr wrap="square" lIns="0" tIns="0" rIns="0" bIns="0" rtlCol="0" anchor="ctr"/>
          <a:lstStyle/>
          <a:p>
            <a:pPr marL="0" indent="0">
              <a:lnSpc>
                <a:spcPts val="4800"/>
              </a:lnSpc>
              <a:buNone/>
            </a:pPr>
            <a:r>
              <a:rPr lang="en-US" sz="3800" dirty="0">
                <a:solidFill>
                  <a:srgbClr val="FFFFFF"/>
                </a:solidFill>
                <a:latin typeface="Calibri" pitchFamily="34" charset="0"/>
                <a:ea typeface="Calibri" pitchFamily="34" charset="-122"/>
                <a:cs typeface="Calibri" pitchFamily="34" charset="-120"/>
              </a:rPr>
              <a:t>Business Value</a:t>
            </a:r>
            <a:endParaRPr lang="en-US" sz="3800" dirty="0"/>
          </a:p>
          <a:p>
            <a:pPr marL="0" indent="0">
              <a:lnSpc>
                <a:spcPts val="4800"/>
              </a:lnSpc>
              <a:buNone/>
            </a:pPr>
            <a:r>
              <a:rPr lang="en-US" sz="3800" dirty="0">
                <a:solidFill>
                  <a:srgbClr val="FFFFFF"/>
                </a:solidFill>
                <a:latin typeface="Calibri" pitchFamily="34" charset="0"/>
                <a:ea typeface="Calibri" pitchFamily="34" charset="-122"/>
                <a:cs typeface="Calibri" pitchFamily="34" charset="-120"/>
              </a:rPr>
              <a:t>Identification Framework</a:t>
            </a:r>
            <a:endParaRPr lang="en-US" sz="3800" dirty="0"/>
          </a:p>
        </p:txBody>
      </p:sp>
      <p:sp>
        <p:nvSpPr>
          <p:cNvPr id="4" name="Text 2"/>
          <p:cNvSpPr/>
          <p:nvPr/>
        </p:nvSpPr>
        <p:spPr>
          <a:xfrm>
            <a:off x="731520" y="3200400"/>
            <a:ext cx="2743200" cy="640080"/>
          </a:xfrm>
          <a:prstGeom prst="rect">
            <a:avLst/>
          </a:prstGeom>
          <a:noFill/>
          <a:ln/>
        </p:spPr>
        <p:txBody>
          <a:bodyPr wrap="square" lIns="0" tIns="0" rIns="0" bIns="0" rtlCol="0" anchor="ctr"/>
          <a:lstStyle/>
          <a:p>
            <a:pPr marL="0" indent="0">
              <a:buNone/>
            </a:pPr>
            <a:r>
              <a:rPr lang="en-US" sz="2800" dirty="0">
                <a:solidFill>
                  <a:srgbClr val="FF9900"/>
                </a:solidFill>
                <a:latin typeface="Calibri" pitchFamily="34" charset="0"/>
                <a:ea typeface="Calibri" pitchFamily="34" charset="-122"/>
                <a:cs typeface="Calibri" pitchFamily="34" charset="-120"/>
              </a:rPr>
              <a:t>BVIF</a:t>
            </a:r>
            <a:endParaRPr lang="en-US" sz="2800" dirty="0"/>
          </a:p>
        </p:txBody>
      </p:sp>
      <p:sp>
        <p:nvSpPr>
          <p:cNvPr id="5" name="Text 3"/>
          <p:cNvSpPr/>
          <p:nvPr/>
        </p:nvSpPr>
        <p:spPr>
          <a:xfrm>
            <a:off x="731520" y="4389120"/>
            <a:ext cx="7315200" cy="365760"/>
          </a:xfrm>
          <a:prstGeom prst="rect">
            <a:avLst/>
          </a:prstGeom>
          <a:noFill/>
          <a:ln/>
        </p:spPr>
        <p:txBody>
          <a:bodyPr wrap="square" lIns="0" tIns="0" rIns="0" bIns="0" rtlCol="0" anchor="ctr"/>
          <a:lstStyle/>
          <a:p>
            <a:pPr marL="0" indent="0">
              <a:buNone/>
            </a:pPr>
            <a:r>
              <a:rPr lang="en-US" sz="1100" dirty="0">
                <a:solidFill>
                  <a:srgbClr val="8899A6"/>
                </a:solidFill>
                <a:latin typeface="Calibri" pitchFamily="34" charset="0"/>
                <a:ea typeface="Calibri" pitchFamily="34" charset="-122"/>
                <a:cs typeface="Calibri" pitchFamily="34" charset="-120"/>
              </a:rPr>
              <a:t>AWS Principal Technologist Team  |  AI Transformation  |  June 2026</a:t>
            </a:r>
            <a:endParaRPr lang="en-US" sz="1100" dirty="0"/>
          </a:p>
        </p:txBody>
      </p:sp>
      <p:sp>
        <p:nvSpPr>
          <p:cNvPr id="6" name="TextBox 5">
            <a:extLst>
              <a:ext uri="{FF2B5EF4-FFF2-40B4-BE49-F238E27FC236}">
                <a16:creationId xmlns:a16="http://schemas.microsoft.com/office/drawing/2014/main" id="{4E1F7BA7-43D3-0248-2BAC-C2E586ACC586}"/>
              </a:ext>
            </a:extLst>
          </p:cNvPr>
          <p:cNvSpPr txBox="1"/>
          <p:nvPr/>
        </p:nvSpPr>
        <p:spPr>
          <a:xfrm>
            <a:off x="644576" y="4127510"/>
            <a:ext cx="4572000"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899A6"/>
                </a:solidFill>
                <a:effectLst/>
                <a:uLnTx/>
                <a:uFillTx/>
                <a:latin typeface="Calibri" pitchFamily="34" charset="0"/>
                <a:ea typeface="Calibri" pitchFamily="34" charset="-122"/>
                <a:cs typeface="Calibri" pitchFamily="34" charset="-120"/>
              </a:rPr>
              <a:t>Mau Munoz - </a:t>
            </a:r>
            <a:r>
              <a:rPr kumimoji="0" lang="en-US" sz="1100" b="0" i="0" u="none" strike="noStrike" kern="1200" cap="none" spc="0" normalizeH="0" baseline="0" noProof="0" dirty="0" err="1">
                <a:ln>
                  <a:noFill/>
                </a:ln>
                <a:solidFill>
                  <a:srgbClr val="8899A6"/>
                </a:solidFill>
                <a:effectLst/>
                <a:uLnTx/>
                <a:uFillTx/>
                <a:latin typeface="Calibri" pitchFamily="34" charset="0"/>
                <a:ea typeface="Calibri" pitchFamily="34" charset="-122"/>
                <a:cs typeface="Calibri" pitchFamily="34" charset="-120"/>
              </a:rPr>
              <a:t>maumunoz@amazon.com</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320040"/>
          </a:xfrm>
          <a:prstGeom prst="rect">
            <a:avLst/>
          </a:prstGeom>
          <a:noFill/>
          <a:ln/>
        </p:spPr>
        <p:txBody>
          <a:bodyPr wrap="square" lIns="0" tIns="0" rIns="0" bIns="0" rtlCol="0" anchor="ctr"/>
          <a:lstStyle/>
          <a:p>
            <a:pPr marL="0" indent="0">
              <a:buNone/>
            </a:pPr>
            <a:r>
              <a:rPr lang="en-US" sz="1000" kern="0" spc="300" dirty="0">
                <a:solidFill>
                  <a:srgbClr val="146EB4"/>
                </a:solidFill>
                <a:latin typeface="Calibri" pitchFamily="34" charset="0"/>
                <a:ea typeface="Calibri" pitchFamily="34" charset="-122"/>
                <a:cs typeface="Calibri" pitchFamily="34" charset="-120"/>
              </a:rPr>
              <a:t>THE OPPORTUNITY</a:t>
            </a:r>
            <a:endParaRPr lang="en-US" sz="1000" dirty="0"/>
          </a:p>
        </p:txBody>
      </p:sp>
      <p:sp>
        <p:nvSpPr>
          <p:cNvPr id="3" name="Text 1"/>
          <p:cNvSpPr/>
          <p:nvPr/>
        </p:nvSpPr>
        <p:spPr>
          <a:xfrm>
            <a:off x="548640" y="640080"/>
            <a:ext cx="8229600" cy="548640"/>
          </a:xfrm>
          <a:prstGeom prst="rect">
            <a:avLst/>
          </a:prstGeom>
          <a:noFill/>
          <a:ln/>
        </p:spPr>
        <p:txBody>
          <a:bodyPr wrap="square" lIns="0" tIns="0" rIns="0" bIns="0" rtlCol="0" anchor="ctr"/>
          <a:lstStyle/>
          <a:p>
            <a:pPr marL="0" indent="0">
              <a:buNone/>
            </a:pPr>
            <a:r>
              <a:rPr lang="en-US" sz="3000" dirty="0">
                <a:solidFill>
                  <a:srgbClr val="232F3E"/>
                </a:solidFill>
                <a:latin typeface="Calibri" pitchFamily="34" charset="0"/>
                <a:ea typeface="Calibri" pitchFamily="34" charset="-122"/>
                <a:cs typeface="Calibri" pitchFamily="34" charset="-120"/>
              </a:rPr>
              <a:t>Imagine this...</a:t>
            </a:r>
            <a:endParaRPr lang="en-US" sz="3000" dirty="0"/>
          </a:p>
        </p:txBody>
      </p:sp>
      <p:sp>
        <p:nvSpPr>
          <p:cNvPr id="4" name="Shape 2"/>
          <p:cNvSpPr/>
          <p:nvPr/>
        </p:nvSpPr>
        <p:spPr>
          <a:xfrm>
            <a:off x="457200" y="1371600"/>
            <a:ext cx="3931920" cy="2194560"/>
          </a:xfrm>
          <a:prstGeom prst="roundRect">
            <a:avLst>
              <a:gd name="adj" fmla="val 3333"/>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5" name="Text 3"/>
          <p:cNvSpPr/>
          <p:nvPr/>
        </p:nvSpPr>
        <p:spPr>
          <a:xfrm>
            <a:off x="731520" y="1554480"/>
            <a:ext cx="3474720" cy="1920240"/>
          </a:xfrm>
          <a:prstGeom prst="rect">
            <a:avLst/>
          </a:prstGeom>
          <a:noFill/>
          <a:ln/>
        </p:spPr>
        <p:txBody>
          <a:bodyPr wrap="square" lIns="0" tIns="0" rIns="0" bIns="0" rtlCol="0" anchor="t"/>
          <a:lstStyle/>
          <a:p>
            <a:pPr marL="0" indent="0">
              <a:buNone/>
            </a:pPr>
            <a:r>
              <a:rPr lang="en-US" sz="1000" b="1" dirty="0">
                <a:solidFill>
                  <a:srgbClr val="8899A6"/>
                </a:solidFill>
              </a:rPr>
              <a:t>YOUR COMPANY:</a:t>
            </a:r>
            <a:endParaRPr lang="en-US" sz="1000" dirty="0"/>
          </a:p>
          <a:p>
            <a:pPr marL="0" indent="0">
              <a:buNone/>
            </a:pPr>
            <a:r>
              <a:rPr lang="en-US" sz="600" dirty="0">
                <a:solidFill>
                  <a:srgbClr val="000000"/>
                </a:solidFill>
              </a:rPr>
              <a:t>
</a:t>
            </a:r>
            <a:endParaRPr lang="en-US" sz="1000" dirty="0"/>
          </a:p>
          <a:p>
            <a:pPr marL="0" indent="0">
              <a:buNone/>
            </a:pPr>
            <a:r>
              <a:rPr lang="en-US" sz="1200" dirty="0">
                <a:solidFill>
                  <a:srgbClr val="444444"/>
                </a:solidFill>
              </a:rPr>
              <a:t>You have hundreds of AI initiatives on the table.</a:t>
            </a:r>
            <a:endParaRPr lang="en-US" sz="1000" dirty="0"/>
          </a:p>
          <a:p>
            <a:pPr marL="0" indent="0">
              <a:buNone/>
            </a:pPr>
            <a:endParaRPr lang="en-US" sz="1000" dirty="0"/>
          </a:p>
          <a:p>
            <a:pPr marL="0" indent="0">
              <a:buNone/>
            </a:pPr>
            <a:r>
              <a:rPr lang="en-US" sz="1200" dirty="0">
                <a:solidFill>
                  <a:srgbClr val="444444"/>
                </a:solidFill>
              </a:rPr>
              <a:t>One of them is: "Use AI for predictive maintenance to reduce unplanned failures in production lines."</a:t>
            </a:r>
            <a:endParaRPr lang="en-US" sz="1000" dirty="0"/>
          </a:p>
          <a:p>
            <a:pPr marL="0" indent="0">
              <a:buNone/>
            </a:pPr>
            <a:endParaRPr lang="en-US" sz="1000" dirty="0"/>
          </a:p>
          <a:p>
            <a:pPr marL="0" indent="0">
              <a:buNone/>
            </a:pPr>
            <a:r>
              <a:rPr lang="en-US" sz="1200" dirty="0">
                <a:solidFill>
                  <a:srgbClr val="444444"/>
                </a:solidFill>
              </a:rPr>
              <a:t>How do you know which ones are worth pursuing?</a:t>
            </a:r>
            <a:endParaRPr lang="en-US" sz="1000" dirty="0"/>
          </a:p>
        </p:txBody>
      </p:sp>
      <p:sp>
        <p:nvSpPr>
          <p:cNvPr id="6" name="Text 4"/>
          <p:cNvSpPr/>
          <p:nvPr/>
        </p:nvSpPr>
        <p:spPr>
          <a:xfrm>
            <a:off x="4297680" y="2286000"/>
            <a:ext cx="548640" cy="457200"/>
          </a:xfrm>
          <a:prstGeom prst="rect">
            <a:avLst/>
          </a:prstGeom>
          <a:noFill/>
          <a:ln/>
        </p:spPr>
        <p:txBody>
          <a:bodyPr wrap="square" lIns="0" tIns="0" rIns="0" bIns="0" rtlCol="0" anchor="ctr"/>
          <a:lstStyle/>
          <a:p>
            <a:pPr marL="0" indent="0" algn="ctr">
              <a:buNone/>
            </a:pPr>
            <a:r>
              <a:rPr lang="en-US" sz="2800" dirty="0">
                <a:solidFill>
                  <a:srgbClr val="FF9900"/>
                </a:solidFill>
              </a:rPr>
              <a:t>→</a:t>
            </a:r>
            <a:endParaRPr lang="en-US" sz="2800" dirty="0"/>
          </a:p>
        </p:txBody>
      </p:sp>
      <p:sp>
        <p:nvSpPr>
          <p:cNvPr id="7" name="Shape 5"/>
          <p:cNvSpPr/>
          <p:nvPr/>
        </p:nvSpPr>
        <p:spPr>
          <a:xfrm>
            <a:off x="4754880" y="1371600"/>
            <a:ext cx="3931920" cy="2194560"/>
          </a:xfrm>
          <a:prstGeom prst="roundRect">
            <a:avLst>
              <a:gd name="adj" fmla="val 3333"/>
            </a:avLst>
          </a:prstGeom>
          <a:solidFill>
            <a:srgbClr val="232F3E"/>
          </a:solidFill>
          <a:ln/>
        </p:spPr>
        <p:txBody>
          <a:bodyPr/>
          <a:lstStyle/>
          <a:p>
            <a:endParaRPr lang="en-US"/>
          </a:p>
        </p:txBody>
      </p:sp>
      <p:sp>
        <p:nvSpPr>
          <p:cNvPr id="8" name="Text 6"/>
          <p:cNvSpPr/>
          <p:nvPr/>
        </p:nvSpPr>
        <p:spPr>
          <a:xfrm>
            <a:off x="5029200" y="1508760"/>
            <a:ext cx="3474720" cy="1188720"/>
          </a:xfrm>
          <a:prstGeom prst="rect">
            <a:avLst/>
          </a:prstGeom>
          <a:noFill/>
          <a:ln/>
        </p:spPr>
        <p:txBody>
          <a:bodyPr wrap="square" lIns="0" tIns="0" rIns="0" bIns="0" rtlCol="0" anchor="t"/>
          <a:lstStyle/>
          <a:p>
            <a:pPr marL="0" indent="0">
              <a:buNone/>
            </a:pPr>
            <a:r>
              <a:rPr lang="en-US" sz="1000" b="1" dirty="0">
                <a:solidFill>
                  <a:srgbClr val="FF9900"/>
                </a:solidFill>
              </a:rPr>
              <a:t>WITH BVIF:</a:t>
            </a:r>
            <a:endParaRPr lang="en-US" sz="1000" dirty="0"/>
          </a:p>
          <a:p>
            <a:pPr marL="0" indent="0">
              <a:buNone/>
            </a:pPr>
            <a:r>
              <a:rPr lang="en-US" sz="400" dirty="0">
                <a:solidFill>
                  <a:srgbClr val="000000"/>
                </a:solidFill>
              </a:rPr>
              <a:t>
</a:t>
            </a:r>
            <a:endParaRPr lang="en-US" sz="1000" dirty="0"/>
          </a:p>
          <a:p>
            <a:pPr marL="0" indent="0">
              <a:buNone/>
            </a:pPr>
            <a:r>
              <a:rPr lang="en-US" sz="2200" dirty="0">
                <a:solidFill>
                  <a:srgbClr val="FF9900"/>
                </a:solidFill>
              </a:rPr>
              <a:t>$9.36M/year</a:t>
            </a:r>
            <a:endParaRPr lang="en-US" sz="1000" dirty="0"/>
          </a:p>
          <a:p>
            <a:pPr marL="0" indent="0">
              <a:buNone/>
            </a:pPr>
            <a:r>
              <a:rPr lang="en-US" sz="1100" dirty="0">
                <a:solidFill>
                  <a:srgbClr val="FFFFFF"/>
                </a:solidFill>
              </a:rPr>
              <a:t>estimated annualized business value</a:t>
            </a:r>
            <a:endParaRPr lang="en-US" sz="1000" dirty="0"/>
          </a:p>
        </p:txBody>
      </p:sp>
      <p:sp>
        <p:nvSpPr>
          <p:cNvPr id="9" name="Text 7"/>
          <p:cNvSpPr/>
          <p:nvPr/>
        </p:nvSpPr>
        <p:spPr>
          <a:xfrm>
            <a:off x="5029200" y="2697480"/>
            <a:ext cx="3474720" cy="731520"/>
          </a:xfrm>
          <a:prstGeom prst="rect">
            <a:avLst/>
          </a:prstGeom>
          <a:noFill/>
          <a:ln/>
        </p:spPr>
        <p:txBody>
          <a:bodyPr wrap="square" lIns="0" tIns="0" rIns="0" bIns="0" rtlCol="0" anchor="ctr"/>
          <a:lstStyle/>
          <a:p>
            <a:pPr marL="0" indent="0">
              <a:lnSpc>
                <a:spcPts val="1400"/>
              </a:lnSpc>
              <a:buNone/>
            </a:pPr>
            <a:r>
              <a:rPr lang="en-US" sz="900" b="1" dirty="0">
                <a:solidFill>
                  <a:srgbClr val="FF9900"/>
                </a:solidFill>
              </a:rPr>
              <a:t>$6.46M</a:t>
            </a:r>
            <a:r>
              <a:rPr lang="en-US" sz="900" dirty="0">
                <a:solidFill>
                  <a:srgbClr val="FFFFFF"/>
                </a:solidFill>
              </a:rPr>
              <a:t>  Recovered production capacity</a:t>
            </a:r>
            <a:endParaRPr lang="en-US" sz="900" dirty="0"/>
          </a:p>
          <a:p>
            <a:pPr marL="0" indent="0">
              <a:lnSpc>
                <a:spcPts val="1400"/>
              </a:lnSpc>
              <a:buNone/>
            </a:pPr>
            <a:r>
              <a:rPr lang="en-US" sz="900" b="1" dirty="0">
                <a:solidFill>
                  <a:srgbClr val="FF9900"/>
                </a:solidFill>
              </a:rPr>
              <a:t>$1.73M</a:t>
            </a:r>
            <a:r>
              <a:rPr lang="en-US" sz="900" dirty="0">
                <a:solidFill>
                  <a:srgbClr val="FFFFFF"/>
                </a:solidFill>
              </a:rPr>
              <a:t>  Maintenance cost reduction</a:t>
            </a:r>
            <a:endParaRPr lang="en-US" sz="900" dirty="0"/>
          </a:p>
          <a:p>
            <a:pPr marL="0" indent="0">
              <a:lnSpc>
                <a:spcPts val="1400"/>
              </a:lnSpc>
              <a:buNone/>
            </a:pPr>
            <a:r>
              <a:rPr lang="en-US" sz="900" b="1" dirty="0">
                <a:solidFill>
                  <a:srgbClr val="FF9900"/>
                </a:solidFill>
              </a:rPr>
              <a:t>$1.17M</a:t>
            </a:r>
            <a:r>
              <a:rPr lang="en-US" sz="900" dirty="0">
                <a:solidFill>
                  <a:srgbClr val="FFFFFF"/>
                </a:solidFill>
              </a:rPr>
              <a:t>  Delivery penalty avoidance</a:t>
            </a:r>
            <a:endParaRPr lang="en-US" sz="900" dirty="0"/>
          </a:p>
        </p:txBody>
      </p:sp>
      <p:sp>
        <p:nvSpPr>
          <p:cNvPr id="10" name="Text 8"/>
          <p:cNvSpPr/>
          <p:nvPr/>
        </p:nvSpPr>
        <p:spPr>
          <a:xfrm>
            <a:off x="548640" y="3840480"/>
            <a:ext cx="8046720" cy="457200"/>
          </a:xfrm>
          <a:prstGeom prst="rect">
            <a:avLst/>
          </a:prstGeom>
          <a:noFill/>
          <a:ln/>
        </p:spPr>
        <p:txBody>
          <a:bodyPr wrap="square" lIns="0" tIns="0" rIns="0" bIns="0" rtlCol="0" anchor="ctr"/>
          <a:lstStyle/>
          <a:p>
            <a:pPr marL="0" indent="0">
              <a:buNone/>
            </a:pPr>
            <a:r>
              <a:rPr lang="en-US" sz="1000" i="1" dirty="0">
                <a:solidFill>
                  <a:srgbClr val="888888"/>
                </a:solidFill>
                <a:latin typeface="Calibri" pitchFamily="34" charset="0"/>
                <a:ea typeface="Calibri" pitchFamily="34" charset="-122"/>
                <a:cs typeface="Calibri" pitchFamily="34" charset="-120"/>
              </a:rPr>
              <a:t>Example from a BVIF session: a manufacturing company ran one initiative through the 7-stage process. Every number traces back to a documented source.</a:t>
            </a:r>
            <a:endParaRPr lang="en-US" sz="1000" dirty="0"/>
          </a:p>
        </p:txBody>
      </p:sp>
      <p:sp>
        <p:nvSpPr>
          <p:cNvPr id="11" name="Text 9"/>
          <p:cNvSpPr/>
          <p:nvPr/>
        </p:nvSpPr>
        <p:spPr>
          <a:xfrm>
            <a:off x="457200" y="4846320"/>
            <a:ext cx="8229600" cy="228600"/>
          </a:xfrm>
          <a:prstGeom prst="rect">
            <a:avLst/>
          </a:prstGeom>
          <a:noFill/>
          <a:ln/>
        </p:spPr>
        <p:txBody>
          <a:bodyPr wrap="square" lIns="0" tIns="0" rIns="0" bIns="0" rtlCol="0" anchor="ctr"/>
          <a:lstStyle/>
          <a:p>
            <a:pPr marL="0" indent="0">
              <a:buNone/>
            </a:pPr>
            <a:r>
              <a:rPr lang="en-US" sz="800" dirty="0">
                <a:solidFill>
                  <a:srgbClr val="8899A6"/>
                </a:solidFill>
              </a:rPr>
              <a:t>BVIF</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4572000" cy="320040"/>
          </a:xfrm>
          <a:prstGeom prst="rect">
            <a:avLst/>
          </a:prstGeom>
          <a:noFill/>
          <a:ln/>
        </p:spPr>
        <p:txBody>
          <a:bodyPr wrap="square" lIns="0" tIns="0" rIns="0" bIns="0" rtlCol="0" anchor="ctr"/>
          <a:lstStyle/>
          <a:p>
            <a:pPr marL="0" indent="0">
              <a:buNone/>
            </a:pPr>
            <a:r>
              <a:rPr lang="en-US" sz="1000" kern="0" spc="300" dirty="0">
                <a:solidFill>
                  <a:srgbClr val="146EB4"/>
                </a:solidFill>
                <a:latin typeface="Calibri" pitchFamily="34" charset="0"/>
                <a:ea typeface="Calibri" pitchFamily="34" charset="-122"/>
                <a:cs typeface="Calibri" pitchFamily="34" charset="-120"/>
              </a:rPr>
              <a:t>ADDRESSING UNCERTAINTY</a:t>
            </a:r>
            <a:endParaRPr lang="en-US" sz="1000" dirty="0"/>
          </a:p>
        </p:txBody>
      </p:sp>
      <p:sp>
        <p:nvSpPr>
          <p:cNvPr id="3" name="Text 1"/>
          <p:cNvSpPr/>
          <p:nvPr/>
        </p:nvSpPr>
        <p:spPr>
          <a:xfrm>
            <a:off x="548640" y="640080"/>
            <a:ext cx="8229600" cy="548640"/>
          </a:xfrm>
          <a:prstGeom prst="rect">
            <a:avLst/>
          </a:prstGeom>
          <a:noFill/>
          <a:ln/>
        </p:spPr>
        <p:txBody>
          <a:bodyPr wrap="square" lIns="0" tIns="0" rIns="0" bIns="0" rtlCol="0" anchor="ctr"/>
          <a:lstStyle/>
          <a:p>
            <a:pPr marL="0" indent="0">
              <a:buNone/>
            </a:pPr>
            <a:r>
              <a:rPr lang="en-US" sz="2800" dirty="0">
                <a:solidFill>
                  <a:srgbClr val="232F3E"/>
                </a:solidFill>
                <a:latin typeface="Calibri" pitchFamily="34" charset="0"/>
                <a:ea typeface="Calibri" pitchFamily="34" charset="-122"/>
                <a:cs typeface="Calibri" pitchFamily="34" charset="-120"/>
              </a:rPr>
              <a:t>But how confident are we in that number?</a:t>
            </a:r>
            <a:endParaRPr lang="en-US" sz="2800" dirty="0"/>
          </a:p>
        </p:txBody>
      </p:sp>
      <p:sp>
        <p:nvSpPr>
          <p:cNvPr id="4" name="Shape 2"/>
          <p:cNvSpPr/>
          <p:nvPr/>
        </p:nvSpPr>
        <p:spPr>
          <a:xfrm>
            <a:off x="457200" y="1371600"/>
            <a:ext cx="3840480" cy="2743200"/>
          </a:xfrm>
          <a:prstGeom prst="roundRect">
            <a:avLst>
              <a:gd name="adj" fmla="val 2667"/>
            </a:avLst>
          </a:prstGeom>
          <a:solidFill>
            <a:srgbClr val="F5F7FA"/>
          </a:solidFill>
          <a:ln/>
        </p:spPr>
        <p:txBody>
          <a:bodyPr/>
          <a:lstStyle/>
          <a:p>
            <a:endParaRPr lang="en-US"/>
          </a:p>
        </p:txBody>
      </p:sp>
      <p:sp>
        <p:nvSpPr>
          <p:cNvPr id="5" name="Text 3"/>
          <p:cNvSpPr/>
          <p:nvPr/>
        </p:nvSpPr>
        <p:spPr>
          <a:xfrm>
            <a:off x="640080" y="1508760"/>
            <a:ext cx="3474720" cy="365760"/>
          </a:xfrm>
          <a:prstGeom prst="rect">
            <a:avLst/>
          </a:prstGeom>
          <a:noFill/>
          <a:ln/>
        </p:spPr>
        <p:txBody>
          <a:bodyPr wrap="square" lIns="0" tIns="0" rIns="0" bIns="0" rtlCol="0" anchor="ctr"/>
          <a:lstStyle/>
          <a:p>
            <a:pPr marL="0" indent="0">
              <a:buNone/>
            </a:pPr>
            <a:r>
              <a:rPr lang="en-US" sz="1400" b="1" dirty="0">
                <a:solidFill>
                  <a:srgbClr val="232F3E"/>
                </a:solidFill>
                <a:latin typeface="Calibri" pitchFamily="34" charset="0"/>
                <a:ea typeface="Calibri" pitchFamily="34" charset="-122"/>
                <a:cs typeface="Calibri" pitchFamily="34" charset="-120"/>
              </a:rPr>
              <a:t>The challenge</a:t>
            </a:r>
            <a:endParaRPr lang="en-US" sz="1400" dirty="0"/>
          </a:p>
        </p:txBody>
      </p:sp>
      <p:sp>
        <p:nvSpPr>
          <p:cNvPr id="6" name="Text 4"/>
          <p:cNvSpPr/>
          <p:nvPr/>
        </p:nvSpPr>
        <p:spPr>
          <a:xfrm>
            <a:off x="640080" y="1920240"/>
            <a:ext cx="3474720" cy="2011680"/>
          </a:xfrm>
          <a:prstGeom prst="rect">
            <a:avLst/>
          </a:prstGeom>
          <a:noFill/>
          <a:ln/>
        </p:spPr>
        <p:txBody>
          <a:bodyPr wrap="square" lIns="0" tIns="0" rIns="0" bIns="0" rtlCol="0" anchor="ctr"/>
          <a:lstStyle/>
          <a:p>
            <a:pPr marL="0" indent="0">
              <a:lnSpc>
                <a:spcPts val="1600"/>
              </a:lnSpc>
              <a:buNone/>
            </a:pPr>
            <a:r>
              <a:rPr lang="en-US" sz="1100" dirty="0">
                <a:solidFill>
                  <a:srgbClr val="555555"/>
                </a:solidFill>
                <a:latin typeface="Calibri" pitchFamily="34" charset="0"/>
                <a:ea typeface="Calibri" pitchFamily="34" charset="-122"/>
                <a:cs typeface="Calibri" pitchFamily="34" charset="-120"/>
              </a:rPr>
              <a:t>A single estimate like $9.36M assumes:</a:t>
            </a:r>
            <a:endParaRPr lang="en-US" sz="1100" dirty="0"/>
          </a:p>
          <a:p>
            <a:pPr marL="0" indent="0">
              <a:lnSpc>
                <a:spcPts val="1600"/>
              </a:lnSpc>
              <a:buNone/>
            </a:pPr>
            <a:r>
              <a:rPr lang="en-US" sz="600" dirty="0">
                <a:solidFill>
                  <a:srgbClr val="555555"/>
                </a:solidFill>
                <a:latin typeface="Calibri" pitchFamily="34" charset="0"/>
                <a:ea typeface="Calibri" pitchFamily="34" charset="-122"/>
                <a:cs typeface="Calibri" pitchFamily="34" charset="-120"/>
              </a:rPr>
              <a:t>
</a:t>
            </a:r>
            <a:endParaRPr lang="en-US" sz="1100" dirty="0"/>
          </a:p>
          <a:p>
            <a:pPr marL="0" indent="0">
              <a:lnSpc>
                <a:spcPts val="1600"/>
              </a:lnSpc>
              <a:buNone/>
            </a:pPr>
            <a:r>
              <a:rPr lang="en-US" sz="1100" dirty="0">
                <a:solidFill>
                  <a:srgbClr val="555555"/>
                </a:solidFill>
                <a:latin typeface="Calibri" pitchFamily="34" charset="0"/>
                <a:ea typeface="Calibri" pitchFamily="34" charset="-122"/>
                <a:cs typeface="Calibri" pitchFamily="34" charset="-120"/>
              </a:rPr>
              <a:t>• Improvement targets are exact</a:t>
            </a:r>
            <a:endParaRPr lang="en-US" sz="1100" dirty="0"/>
          </a:p>
          <a:p>
            <a:pPr marL="0" indent="0">
              <a:lnSpc>
                <a:spcPts val="1600"/>
              </a:lnSpc>
              <a:buNone/>
            </a:pPr>
            <a:r>
              <a:rPr lang="en-US" sz="1100" dirty="0">
                <a:solidFill>
                  <a:srgbClr val="555555"/>
                </a:solidFill>
                <a:latin typeface="Calibri" pitchFamily="34" charset="0"/>
                <a:ea typeface="Calibri" pitchFamily="34" charset="-122"/>
                <a:cs typeface="Calibri" pitchFamily="34" charset="-120"/>
              </a:rPr>
              <a:t>• 100% of value is realized from day one</a:t>
            </a:r>
            <a:endParaRPr lang="en-US" sz="1100" dirty="0"/>
          </a:p>
          <a:p>
            <a:pPr marL="0" indent="0">
              <a:lnSpc>
                <a:spcPts val="1600"/>
              </a:lnSpc>
              <a:buNone/>
            </a:pPr>
            <a:r>
              <a:rPr lang="en-US" sz="1100" dirty="0">
                <a:solidFill>
                  <a:srgbClr val="555555"/>
                </a:solidFill>
                <a:latin typeface="Calibri" pitchFamily="34" charset="0"/>
                <a:ea typeface="Calibri" pitchFamily="34" charset="-122"/>
                <a:cs typeface="Calibri" pitchFamily="34" charset="-120"/>
              </a:rPr>
              <a:t>• Nothing would have improved without AI</a:t>
            </a:r>
            <a:endParaRPr lang="en-US" sz="1100" dirty="0"/>
          </a:p>
          <a:p>
            <a:pPr marL="0" indent="0">
              <a:lnSpc>
                <a:spcPts val="1600"/>
              </a:lnSpc>
              <a:buNone/>
            </a:pPr>
            <a:r>
              <a:rPr lang="en-US" sz="800" dirty="0">
                <a:solidFill>
                  <a:srgbClr val="555555"/>
                </a:solidFill>
                <a:latin typeface="Calibri" pitchFamily="34" charset="0"/>
                <a:ea typeface="Calibri" pitchFamily="34" charset="-122"/>
                <a:cs typeface="Calibri" pitchFamily="34" charset="-120"/>
              </a:rPr>
              <a:t>
</a:t>
            </a:r>
            <a:endParaRPr lang="en-US" sz="1100" dirty="0"/>
          </a:p>
          <a:p>
            <a:pPr marL="0" indent="0">
              <a:lnSpc>
                <a:spcPts val="1600"/>
              </a:lnSpc>
              <a:buNone/>
            </a:pPr>
            <a:r>
              <a:rPr lang="en-US" sz="1100" b="1" dirty="0">
                <a:solidFill>
                  <a:srgbClr val="555555"/>
                </a:solidFill>
                <a:latin typeface="Calibri" pitchFamily="34" charset="0"/>
                <a:ea typeface="Calibri" pitchFamily="34" charset="-122"/>
                <a:cs typeface="Calibri" pitchFamily="34" charset="-120"/>
              </a:rPr>
              <a:t>In reality, AI outcomes are uncertain.</a:t>
            </a:r>
            <a:endParaRPr lang="en-US" sz="1100" dirty="0"/>
          </a:p>
        </p:txBody>
      </p:sp>
      <p:sp>
        <p:nvSpPr>
          <p:cNvPr id="7" name="Shape 5"/>
          <p:cNvSpPr/>
          <p:nvPr/>
        </p:nvSpPr>
        <p:spPr>
          <a:xfrm>
            <a:off x="4572000" y="1371600"/>
            <a:ext cx="4114800" cy="2743200"/>
          </a:xfrm>
          <a:prstGeom prst="roundRect">
            <a:avLst>
              <a:gd name="adj" fmla="val 2667"/>
            </a:avLst>
          </a:prstGeom>
          <a:solidFill>
            <a:srgbClr val="232F3E"/>
          </a:solidFill>
          <a:ln/>
        </p:spPr>
        <p:txBody>
          <a:bodyPr/>
          <a:lstStyle/>
          <a:p>
            <a:endParaRPr lang="en-US"/>
          </a:p>
        </p:txBody>
      </p:sp>
      <p:sp>
        <p:nvSpPr>
          <p:cNvPr id="8" name="Text 6"/>
          <p:cNvSpPr/>
          <p:nvPr/>
        </p:nvSpPr>
        <p:spPr>
          <a:xfrm>
            <a:off x="4754880" y="1508760"/>
            <a:ext cx="3749040" cy="365760"/>
          </a:xfrm>
          <a:prstGeom prst="rect">
            <a:avLst/>
          </a:prstGeom>
          <a:noFill/>
          <a:ln/>
        </p:spPr>
        <p:txBody>
          <a:bodyPr wrap="square" lIns="0" tIns="0" rIns="0" bIns="0" rtlCol="0" anchor="ctr"/>
          <a:lstStyle/>
          <a:p>
            <a:pPr marL="0" indent="0">
              <a:buNone/>
            </a:pPr>
            <a:r>
              <a:rPr lang="en-US" sz="1400" b="1" dirty="0">
                <a:solidFill>
                  <a:srgbClr val="FF9900"/>
                </a:solidFill>
                <a:latin typeface="Calibri" pitchFamily="34" charset="0"/>
                <a:ea typeface="Calibri" pitchFamily="34" charset="-122"/>
                <a:cs typeface="Calibri" pitchFamily="34" charset="-120"/>
              </a:rPr>
              <a:t>BVIF approach</a:t>
            </a:r>
            <a:endParaRPr lang="en-US" sz="1400" dirty="0"/>
          </a:p>
        </p:txBody>
      </p:sp>
      <p:sp>
        <p:nvSpPr>
          <p:cNvPr id="9" name="Text 7"/>
          <p:cNvSpPr/>
          <p:nvPr/>
        </p:nvSpPr>
        <p:spPr>
          <a:xfrm>
            <a:off x="4754880" y="1920240"/>
            <a:ext cx="3749040" cy="1645920"/>
          </a:xfrm>
          <a:prstGeom prst="rect">
            <a:avLst/>
          </a:prstGeom>
          <a:noFill/>
          <a:ln/>
        </p:spPr>
        <p:txBody>
          <a:bodyPr wrap="square" lIns="0" tIns="0" rIns="0" bIns="0" rtlCol="0" anchor="ctr"/>
          <a:lstStyle/>
          <a:p>
            <a:pPr marL="0" indent="0">
              <a:lnSpc>
                <a:spcPts val="1500"/>
              </a:lnSpc>
              <a:buNone/>
            </a:pPr>
            <a:r>
              <a:rPr lang="en-US" sz="1100" b="1" dirty="0">
                <a:solidFill>
                  <a:srgbClr val="FF9900"/>
                </a:solidFill>
                <a:latin typeface="Calibri" pitchFamily="34" charset="0"/>
                <a:ea typeface="Calibri" pitchFamily="34" charset="-122"/>
                <a:cs typeface="Calibri" pitchFamily="34" charset="-120"/>
              </a:rPr>
              <a:t>Three-point improvement target</a:t>
            </a:r>
            <a:r>
              <a:rPr lang="en-US" sz="1100" dirty="0">
                <a:solidFill>
                  <a:srgbClr val="CCCCCC"/>
                </a:solidFill>
                <a:latin typeface="Calibri" pitchFamily="34" charset="0"/>
                <a:ea typeface="Calibri" pitchFamily="34" charset="-122"/>
                <a:cs typeface="Calibri" pitchFamily="34" charset="-120"/>
              </a:rPr>
              <a:t> — pessimistic, most likely, optimistic estimates for each metric</a:t>
            </a:r>
            <a:endParaRPr lang="en-US" sz="1100" dirty="0"/>
          </a:p>
          <a:p>
            <a:pPr marL="0" indent="0">
              <a:lnSpc>
                <a:spcPts val="1500"/>
              </a:lnSpc>
              <a:buNone/>
            </a:pPr>
            <a:endParaRPr lang="en-US" sz="1100" dirty="0"/>
          </a:p>
          <a:p>
            <a:pPr marL="0" indent="0">
              <a:lnSpc>
                <a:spcPts val="1500"/>
              </a:lnSpc>
              <a:buNone/>
            </a:pPr>
            <a:r>
              <a:rPr lang="en-US" sz="1100" b="1" dirty="0">
                <a:solidFill>
                  <a:srgbClr val="FF9900"/>
                </a:solidFill>
                <a:latin typeface="Calibri" pitchFamily="34" charset="0"/>
                <a:ea typeface="Calibri" pitchFamily="34" charset="-122"/>
                <a:cs typeface="Calibri" pitchFamily="34" charset="-120"/>
              </a:rPr>
              <a:t>Adoption/realization rate</a:t>
            </a:r>
            <a:r>
              <a:rPr lang="en-US" sz="1100" dirty="0">
                <a:solidFill>
                  <a:srgbClr val="CCCCCC"/>
                </a:solidFill>
                <a:latin typeface="Calibri" pitchFamily="34" charset="0"/>
                <a:ea typeface="Calibri" pitchFamily="34" charset="-122"/>
                <a:cs typeface="Calibri" pitchFamily="34" charset="-120"/>
              </a:rPr>
              <a:t> — what % of theoretical value will actually materialize</a:t>
            </a:r>
            <a:endParaRPr lang="en-US" sz="1100" dirty="0"/>
          </a:p>
          <a:p>
            <a:pPr marL="0" indent="0">
              <a:lnSpc>
                <a:spcPts val="1500"/>
              </a:lnSpc>
              <a:buNone/>
            </a:pPr>
            <a:endParaRPr lang="en-US" sz="1100" dirty="0"/>
          </a:p>
          <a:p>
            <a:pPr marL="0" indent="0">
              <a:lnSpc>
                <a:spcPts val="1500"/>
              </a:lnSpc>
              <a:buNone/>
            </a:pPr>
            <a:r>
              <a:rPr lang="en-US" sz="1100" b="1" dirty="0">
                <a:solidFill>
                  <a:srgbClr val="FF9900"/>
                </a:solidFill>
                <a:latin typeface="Calibri" pitchFamily="34" charset="0"/>
                <a:ea typeface="Calibri" pitchFamily="34" charset="-122"/>
                <a:cs typeface="Calibri" pitchFamily="34" charset="-120"/>
              </a:rPr>
              <a:t>Counterfactual baseline</a:t>
            </a:r>
            <a:r>
              <a:rPr lang="en-US" sz="1100" dirty="0">
                <a:solidFill>
                  <a:srgbClr val="CCCCCC"/>
                </a:solidFill>
                <a:latin typeface="Calibri" pitchFamily="34" charset="0"/>
                <a:ea typeface="Calibri" pitchFamily="34" charset="-122"/>
                <a:cs typeface="Calibri" pitchFamily="34" charset="-120"/>
              </a:rPr>
              <a:t> — where would the metric be without AI? (subtracts organic drift)</a:t>
            </a:r>
            <a:endParaRPr lang="en-US" sz="1100" dirty="0"/>
          </a:p>
        </p:txBody>
      </p:sp>
      <p:sp>
        <p:nvSpPr>
          <p:cNvPr id="10" name="Text 8"/>
          <p:cNvSpPr/>
          <p:nvPr/>
        </p:nvSpPr>
        <p:spPr>
          <a:xfrm>
            <a:off x="4754880" y="3655351"/>
            <a:ext cx="3749040" cy="365760"/>
          </a:xfrm>
          <a:prstGeom prst="rect">
            <a:avLst/>
          </a:prstGeom>
          <a:noFill/>
          <a:ln/>
        </p:spPr>
        <p:txBody>
          <a:bodyPr wrap="square" lIns="0" tIns="0" rIns="0" bIns="0" rtlCol="0" anchor="ctr"/>
          <a:lstStyle/>
          <a:p>
            <a:pPr marL="0" indent="0">
              <a:buNone/>
            </a:pPr>
            <a:r>
              <a:rPr lang="en-US" sz="1400" dirty="0">
                <a:solidFill>
                  <a:srgbClr val="FF9900"/>
                </a:solidFill>
                <a:latin typeface="Calibri" pitchFamily="34" charset="0"/>
                <a:ea typeface="Calibri" pitchFamily="34" charset="-122"/>
                <a:cs typeface="Calibri" pitchFamily="34" charset="-120"/>
              </a:rPr>
              <a:t>Result: </a:t>
            </a:r>
          </a:p>
          <a:p>
            <a:pPr marL="0" indent="0">
              <a:buNone/>
            </a:pPr>
            <a:r>
              <a:rPr lang="en-US" sz="1400" dirty="0">
                <a:solidFill>
                  <a:schemeClr val="bg1"/>
                </a:solidFill>
                <a:latin typeface="Calibri" pitchFamily="34" charset="0"/>
                <a:ea typeface="Calibri" pitchFamily="34" charset="-122"/>
                <a:cs typeface="Calibri" pitchFamily="34" charset="-120"/>
              </a:rPr>
              <a:t>P10</a:t>
            </a:r>
            <a:r>
              <a:rPr lang="en-US" sz="1400" dirty="0">
                <a:solidFill>
                  <a:srgbClr val="FF9900"/>
                </a:solidFill>
                <a:latin typeface="Calibri" pitchFamily="34" charset="0"/>
                <a:ea typeface="Calibri" pitchFamily="34" charset="-122"/>
                <a:cs typeface="Calibri" pitchFamily="34" charset="-120"/>
              </a:rPr>
              <a:t> $4.8M – </a:t>
            </a:r>
            <a:r>
              <a:rPr lang="en-US" sz="1400" dirty="0">
                <a:solidFill>
                  <a:schemeClr val="bg1"/>
                </a:solidFill>
                <a:latin typeface="Calibri" pitchFamily="34" charset="0"/>
                <a:ea typeface="Calibri" pitchFamily="34" charset="-122"/>
                <a:cs typeface="Calibri" pitchFamily="34" charset="-120"/>
              </a:rPr>
              <a:t>P50</a:t>
            </a:r>
            <a:r>
              <a:rPr lang="en-US" sz="1400" dirty="0">
                <a:solidFill>
                  <a:srgbClr val="FF9900"/>
                </a:solidFill>
                <a:latin typeface="Calibri" pitchFamily="34" charset="0"/>
                <a:ea typeface="Calibri" pitchFamily="34" charset="-122"/>
                <a:cs typeface="Calibri" pitchFamily="34" charset="-120"/>
              </a:rPr>
              <a:t> $7.4M – </a:t>
            </a:r>
            <a:r>
              <a:rPr lang="en-US" sz="1400" dirty="0">
                <a:solidFill>
                  <a:schemeClr val="bg1"/>
                </a:solidFill>
                <a:latin typeface="Calibri" pitchFamily="34" charset="0"/>
                <a:ea typeface="Calibri" pitchFamily="34" charset="-122"/>
                <a:cs typeface="Calibri" pitchFamily="34" charset="-120"/>
              </a:rPr>
              <a:t>P90</a:t>
            </a:r>
            <a:r>
              <a:rPr lang="en-US" sz="1400" dirty="0">
                <a:solidFill>
                  <a:srgbClr val="FF9900"/>
                </a:solidFill>
                <a:latin typeface="Calibri" pitchFamily="34" charset="0"/>
                <a:ea typeface="Calibri" pitchFamily="34" charset="-122"/>
                <a:cs typeface="Calibri" pitchFamily="34" charset="-120"/>
              </a:rPr>
              <a:t> $10.9M</a:t>
            </a:r>
            <a:endParaRPr lang="en-US" sz="1400" dirty="0"/>
          </a:p>
        </p:txBody>
      </p:sp>
      <p:sp>
        <p:nvSpPr>
          <p:cNvPr id="12" name="Text 10"/>
          <p:cNvSpPr/>
          <p:nvPr/>
        </p:nvSpPr>
        <p:spPr>
          <a:xfrm>
            <a:off x="457200" y="4846320"/>
            <a:ext cx="8229600" cy="228600"/>
          </a:xfrm>
          <a:prstGeom prst="rect">
            <a:avLst/>
          </a:prstGeom>
          <a:noFill/>
          <a:ln/>
        </p:spPr>
        <p:txBody>
          <a:bodyPr wrap="square" lIns="0" tIns="0" rIns="0" bIns="0" rtlCol="0" anchor="ctr"/>
          <a:lstStyle/>
          <a:p>
            <a:pPr marL="0" indent="0">
              <a:buNone/>
            </a:pPr>
            <a:r>
              <a:rPr lang="en-US" sz="800" dirty="0">
                <a:solidFill>
                  <a:srgbClr val="8899A6"/>
                </a:solidFill>
              </a:rPr>
              <a:t>BVIF </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320040"/>
          </a:xfrm>
          <a:prstGeom prst="rect">
            <a:avLst/>
          </a:prstGeom>
          <a:noFill/>
          <a:ln/>
        </p:spPr>
        <p:txBody>
          <a:bodyPr wrap="square" lIns="0" tIns="0" rIns="0" bIns="0" rtlCol="0" anchor="ctr"/>
          <a:lstStyle/>
          <a:p>
            <a:pPr marL="0" indent="0">
              <a:buNone/>
            </a:pPr>
            <a:r>
              <a:rPr lang="en-US" sz="1000" kern="0" spc="300" dirty="0">
                <a:solidFill>
                  <a:srgbClr val="146EB4"/>
                </a:solidFill>
                <a:latin typeface="Calibri" pitchFamily="34" charset="0"/>
                <a:ea typeface="Calibri" pitchFamily="34" charset="-122"/>
                <a:cs typeface="Calibri" pitchFamily="34" charset="-120"/>
              </a:rPr>
              <a:t>01  ·  DEFINITION</a:t>
            </a:r>
            <a:endParaRPr lang="en-US" sz="1000" dirty="0"/>
          </a:p>
        </p:txBody>
      </p:sp>
      <p:sp>
        <p:nvSpPr>
          <p:cNvPr id="3" name="Text 1"/>
          <p:cNvSpPr/>
          <p:nvPr/>
        </p:nvSpPr>
        <p:spPr>
          <a:xfrm>
            <a:off x="548640" y="640080"/>
            <a:ext cx="8229600" cy="548640"/>
          </a:xfrm>
          <a:prstGeom prst="rect">
            <a:avLst/>
          </a:prstGeom>
          <a:noFill/>
          <a:ln/>
        </p:spPr>
        <p:txBody>
          <a:bodyPr wrap="square" lIns="0" tIns="0" rIns="0" bIns="0" rtlCol="0" anchor="ctr"/>
          <a:lstStyle/>
          <a:p>
            <a:pPr marL="0" indent="0">
              <a:buNone/>
            </a:pPr>
            <a:r>
              <a:rPr lang="en-US" sz="3000" dirty="0">
                <a:solidFill>
                  <a:srgbClr val="232F3E"/>
                </a:solidFill>
                <a:latin typeface="Calibri" pitchFamily="34" charset="0"/>
                <a:ea typeface="Calibri" pitchFamily="34" charset="-122"/>
                <a:cs typeface="Calibri" pitchFamily="34" charset="-120"/>
              </a:rPr>
              <a:t>What is BVIF?</a:t>
            </a:r>
            <a:endParaRPr lang="en-US" sz="3000" dirty="0"/>
          </a:p>
        </p:txBody>
      </p:sp>
      <p:sp>
        <p:nvSpPr>
          <p:cNvPr id="4" name="Text 2"/>
          <p:cNvSpPr/>
          <p:nvPr/>
        </p:nvSpPr>
        <p:spPr>
          <a:xfrm>
            <a:off x="548640" y="1371600"/>
            <a:ext cx="4389120" cy="3017520"/>
          </a:xfrm>
          <a:prstGeom prst="rect">
            <a:avLst/>
          </a:prstGeom>
          <a:noFill/>
          <a:ln/>
        </p:spPr>
        <p:txBody>
          <a:bodyPr wrap="square" lIns="0" tIns="0" rIns="0" bIns="0" rtlCol="0" anchor="t"/>
          <a:lstStyle/>
          <a:p>
            <a:pPr marL="0" indent="0">
              <a:lnSpc>
                <a:spcPts val="1800"/>
              </a:lnSpc>
              <a:buNone/>
            </a:pPr>
            <a:r>
              <a:rPr lang="en-US" sz="1200" dirty="0">
                <a:solidFill>
                  <a:srgbClr val="444444"/>
                </a:solidFill>
                <a:latin typeface="Calibri" pitchFamily="34" charset="0"/>
                <a:ea typeface="Calibri" pitchFamily="34" charset="-122"/>
                <a:cs typeface="Calibri" pitchFamily="34" charset="-120"/>
              </a:rPr>
              <a:t>A systematic framework for turning an AI initiative into a quantified business value estimate.</a:t>
            </a:r>
            <a:endParaRPr lang="en-US" sz="1200" dirty="0"/>
          </a:p>
          <a:p>
            <a:pPr marL="0" indent="0">
              <a:lnSpc>
                <a:spcPts val="1800"/>
              </a:lnSpc>
              <a:buNone/>
            </a:pPr>
            <a:endParaRPr lang="en-US" sz="1200" dirty="0"/>
          </a:p>
          <a:p>
            <a:pPr marL="0" indent="0">
              <a:lnSpc>
                <a:spcPts val="1800"/>
              </a:lnSpc>
              <a:buNone/>
            </a:pPr>
            <a:r>
              <a:rPr lang="en-US" sz="1200" dirty="0">
                <a:solidFill>
                  <a:srgbClr val="444444"/>
                </a:solidFill>
                <a:latin typeface="Calibri" pitchFamily="34" charset="0"/>
                <a:ea typeface="Calibri" pitchFamily="34" charset="-122"/>
                <a:cs typeface="Calibri" pitchFamily="34" charset="-120"/>
              </a:rPr>
              <a:t>BVIF takes you from a plain-language description of an initiative to defined metrics, feasibility assessment, data collection, and an annualized business value — grounded in evidence and traceable end-to-end.</a:t>
            </a:r>
            <a:endParaRPr lang="en-US" sz="1200" dirty="0"/>
          </a:p>
          <a:p>
            <a:pPr marL="0" indent="0">
              <a:lnSpc>
                <a:spcPts val="1800"/>
              </a:lnSpc>
              <a:buNone/>
            </a:pPr>
            <a:endParaRPr lang="en-US" sz="1200" dirty="0"/>
          </a:p>
          <a:p>
            <a:pPr marL="0" indent="0">
              <a:lnSpc>
                <a:spcPts val="1800"/>
              </a:lnSpc>
              <a:buNone/>
            </a:pPr>
            <a:r>
              <a:rPr lang="en-US" sz="1200" dirty="0">
                <a:solidFill>
                  <a:srgbClr val="444444"/>
                </a:solidFill>
                <a:latin typeface="Calibri" pitchFamily="34" charset="0"/>
                <a:ea typeface="Calibri" pitchFamily="34" charset="-122"/>
                <a:cs typeface="Calibri" pitchFamily="34" charset="-120"/>
              </a:rPr>
              <a:t>Think of it as a validation step: before you invest in detailed planning or implementation, BVIF tells you whether an initiative has meaningful value worth pursuing.</a:t>
            </a:r>
            <a:endParaRPr lang="en-US" sz="1200" dirty="0"/>
          </a:p>
        </p:txBody>
      </p:sp>
      <p:sp>
        <p:nvSpPr>
          <p:cNvPr id="5" name="Shape 3"/>
          <p:cNvSpPr/>
          <p:nvPr/>
        </p:nvSpPr>
        <p:spPr>
          <a:xfrm>
            <a:off x="5486400" y="1828800"/>
            <a:ext cx="2926080" cy="457200"/>
          </a:xfrm>
          <a:prstGeom prst="roundRect">
            <a:avLst>
              <a:gd name="adj" fmla="val 10000"/>
            </a:avLst>
          </a:prstGeom>
          <a:solidFill>
            <a:srgbClr val="232F3E"/>
          </a:solidFill>
          <a:ln/>
        </p:spPr>
        <p:txBody>
          <a:bodyPr/>
          <a:lstStyle/>
          <a:p>
            <a:endParaRPr lang="en-US"/>
          </a:p>
        </p:txBody>
      </p:sp>
      <p:sp>
        <p:nvSpPr>
          <p:cNvPr id="6" name="Text 4"/>
          <p:cNvSpPr/>
          <p:nvPr/>
        </p:nvSpPr>
        <p:spPr>
          <a:xfrm>
            <a:off x="5486400" y="1828800"/>
            <a:ext cx="292608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Initiative</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Description</a:t>
            </a:r>
            <a:endParaRPr lang="en-US" sz="1000" dirty="0"/>
          </a:p>
        </p:txBody>
      </p:sp>
      <p:sp>
        <p:nvSpPr>
          <p:cNvPr id="7" name="Text 5"/>
          <p:cNvSpPr/>
          <p:nvPr/>
        </p:nvSpPr>
        <p:spPr>
          <a:xfrm>
            <a:off x="6766560" y="2267712"/>
            <a:ext cx="365760" cy="182880"/>
          </a:xfrm>
          <a:prstGeom prst="rect">
            <a:avLst/>
          </a:prstGeom>
          <a:noFill/>
          <a:ln/>
        </p:spPr>
        <p:txBody>
          <a:bodyPr wrap="square" lIns="0" tIns="0" rIns="0" bIns="0" rtlCol="0" anchor="ctr"/>
          <a:lstStyle/>
          <a:p>
            <a:pPr marL="0" indent="0" algn="ctr">
              <a:buNone/>
            </a:pPr>
            <a:r>
              <a:rPr lang="en-US" sz="800" dirty="0">
                <a:solidFill>
                  <a:srgbClr val="8899A6"/>
                </a:solidFill>
              </a:rPr>
              <a:t>▼</a:t>
            </a:r>
            <a:endParaRPr lang="en-US" sz="800" dirty="0"/>
          </a:p>
        </p:txBody>
      </p:sp>
      <p:sp>
        <p:nvSpPr>
          <p:cNvPr id="8" name="Shape 6"/>
          <p:cNvSpPr/>
          <p:nvPr/>
        </p:nvSpPr>
        <p:spPr>
          <a:xfrm>
            <a:off x="5486400" y="2423160"/>
            <a:ext cx="2926080" cy="457200"/>
          </a:xfrm>
          <a:prstGeom prst="roundRect">
            <a:avLst>
              <a:gd name="adj" fmla="val 10000"/>
            </a:avLst>
          </a:prstGeom>
          <a:solidFill>
            <a:srgbClr val="232F3E"/>
          </a:solidFill>
          <a:ln/>
        </p:spPr>
        <p:txBody>
          <a:bodyPr/>
          <a:lstStyle/>
          <a:p>
            <a:endParaRPr lang="en-US"/>
          </a:p>
        </p:txBody>
      </p:sp>
      <p:sp>
        <p:nvSpPr>
          <p:cNvPr id="9" name="Text 7"/>
          <p:cNvSpPr/>
          <p:nvPr/>
        </p:nvSpPr>
        <p:spPr>
          <a:xfrm>
            <a:off x="5486400" y="2423160"/>
            <a:ext cx="292608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Defined</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Metrics</a:t>
            </a:r>
            <a:endParaRPr lang="en-US" sz="1000" dirty="0"/>
          </a:p>
        </p:txBody>
      </p:sp>
      <p:sp>
        <p:nvSpPr>
          <p:cNvPr id="10" name="Text 8"/>
          <p:cNvSpPr/>
          <p:nvPr/>
        </p:nvSpPr>
        <p:spPr>
          <a:xfrm>
            <a:off x="6766560" y="2862072"/>
            <a:ext cx="365760" cy="182880"/>
          </a:xfrm>
          <a:prstGeom prst="rect">
            <a:avLst/>
          </a:prstGeom>
          <a:noFill/>
          <a:ln/>
        </p:spPr>
        <p:txBody>
          <a:bodyPr wrap="square" lIns="0" tIns="0" rIns="0" bIns="0" rtlCol="0" anchor="ctr"/>
          <a:lstStyle/>
          <a:p>
            <a:pPr marL="0" indent="0" algn="ctr">
              <a:buNone/>
            </a:pPr>
            <a:r>
              <a:rPr lang="en-US" sz="800" dirty="0">
                <a:solidFill>
                  <a:srgbClr val="8899A6"/>
                </a:solidFill>
              </a:rPr>
              <a:t>▼</a:t>
            </a:r>
            <a:endParaRPr lang="en-US" sz="800" dirty="0"/>
          </a:p>
        </p:txBody>
      </p:sp>
      <p:sp>
        <p:nvSpPr>
          <p:cNvPr id="11" name="Shape 9"/>
          <p:cNvSpPr/>
          <p:nvPr/>
        </p:nvSpPr>
        <p:spPr>
          <a:xfrm>
            <a:off x="5486400" y="3017520"/>
            <a:ext cx="2926080" cy="457200"/>
          </a:xfrm>
          <a:prstGeom prst="roundRect">
            <a:avLst>
              <a:gd name="adj" fmla="val 10000"/>
            </a:avLst>
          </a:prstGeom>
          <a:solidFill>
            <a:srgbClr val="232F3E"/>
          </a:solidFill>
          <a:ln/>
        </p:spPr>
        <p:txBody>
          <a:bodyPr/>
          <a:lstStyle/>
          <a:p>
            <a:endParaRPr lang="en-US"/>
          </a:p>
        </p:txBody>
      </p:sp>
      <p:sp>
        <p:nvSpPr>
          <p:cNvPr id="12" name="Text 10"/>
          <p:cNvSpPr/>
          <p:nvPr/>
        </p:nvSpPr>
        <p:spPr>
          <a:xfrm>
            <a:off x="5486400" y="3017520"/>
            <a:ext cx="292608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Feasibility</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Check</a:t>
            </a:r>
            <a:endParaRPr lang="en-US" sz="1000" dirty="0"/>
          </a:p>
        </p:txBody>
      </p:sp>
      <p:sp>
        <p:nvSpPr>
          <p:cNvPr id="13" name="Text 11"/>
          <p:cNvSpPr/>
          <p:nvPr/>
        </p:nvSpPr>
        <p:spPr>
          <a:xfrm>
            <a:off x="6766560" y="3456432"/>
            <a:ext cx="365760" cy="182880"/>
          </a:xfrm>
          <a:prstGeom prst="rect">
            <a:avLst/>
          </a:prstGeom>
          <a:noFill/>
          <a:ln/>
        </p:spPr>
        <p:txBody>
          <a:bodyPr wrap="square" lIns="0" tIns="0" rIns="0" bIns="0" rtlCol="0" anchor="ctr"/>
          <a:lstStyle/>
          <a:p>
            <a:pPr marL="0" indent="0" algn="ctr">
              <a:buNone/>
            </a:pPr>
            <a:r>
              <a:rPr lang="en-US" sz="800" dirty="0">
                <a:solidFill>
                  <a:srgbClr val="8899A6"/>
                </a:solidFill>
              </a:rPr>
              <a:t>▼</a:t>
            </a:r>
            <a:endParaRPr lang="en-US" sz="800" dirty="0"/>
          </a:p>
        </p:txBody>
      </p:sp>
      <p:sp>
        <p:nvSpPr>
          <p:cNvPr id="14" name="Shape 12"/>
          <p:cNvSpPr/>
          <p:nvPr/>
        </p:nvSpPr>
        <p:spPr>
          <a:xfrm>
            <a:off x="5486400" y="3611880"/>
            <a:ext cx="2926080" cy="457200"/>
          </a:xfrm>
          <a:prstGeom prst="roundRect">
            <a:avLst>
              <a:gd name="adj" fmla="val 10000"/>
            </a:avLst>
          </a:prstGeom>
          <a:solidFill>
            <a:srgbClr val="232F3E"/>
          </a:solidFill>
          <a:ln/>
        </p:spPr>
        <p:txBody>
          <a:bodyPr/>
          <a:lstStyle/>
          <a:p>
            <a:endParaRPr lang="en-US"/>
          </a:p>
        </p:txBody>
      </p:sp>
      <p:sp>
        <p:nvSpPr>
          <p:cNvPr id="15" name="Text 13"/>
          <p:cNvSpPr/>
          <p:nvPr/>
        </p:nvSpPr>
        <p:spPr>
          <a:xfrm>
            <a:off x="5486400" y="3611880"/>
            <a:ext cx="292608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Data</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Collection</a:t>
            </a:r>
            <a:endParaRPr lang="en-US" sz="1000" dirty="0"/>
          </a:p>
        </p:txBody>
      </p:sp>
      <p:sp>
        <p:nvSpPr>
          <p:cNvPr id="16" name="Text 14"/>
          <p:cNvSpPr/>
          <p:nvPr/>
        </p:nvSpPr>
        <p:spPr>
          <a:xfrm>
            <a:off x="6766560" y="4050792"/>
            <a:ext cx="365760" cy="182880"/>
          </a:xfrm>
          <a:prstGeom prst="rect">
            <a:avLst/>
          </a:prstGeom>
          <a:noFill/>
          <a:ln/>
        </p:spPr>
        <p:txBody>
          <a:bodyPr wrap="square" lIns="0" tIns="0" rIns="0" bIns="0" rtlCol="0" anchor="ctr"/>
          <a:lstStyle/>
          <a:p>
            <a:pPr marL="0" indent="0" algn="ctr">
              <a:buNone/>
            </a:pPr>
            <a:r>
              <a:rPr lang="en-US" sz="800" dirty="0">
                <a:solidFill>
                  <a:srgbClr val="8899A6"/>
                </a:solidFill>
              </a:rPr>
              <a:t>▼</a:t>
            </a:r>
            <a:endParaRPr lang="en-US" sz="800" dirty="0"/>
          </a:p>
        </p:txBody>
      </p:sp>
      <p:sp>
        <p:nvSpPr>
          <p:cNvPr id="17" name="Shape 15"/>
          <p:cNvSpPr/>
          <p:nvPr/>
        </p:nvSpPr>
        <p:spPr>
          <a:xfrm>
            <a:off x="5486400" y="4206240"/>
            <a:ext cx="2926080" cy="457200"/>
          </a:xfrm>
          <a:prstGeom prst="roundRect">
            <a:avLst>
              <a:gd name="adj" fmla="val 10000"/>
            </a:avLst>
          </a:prstGeom>
          <a:solidFill>
            <a:srgbClr val="FF9900"/>
          </a:solidFill>
          <a:ln/>
        </p:spPr>
        <p:txBody>
          <a:bodyPr/>
          <a:lstStyle/>
          <a:p>
            <a:endParaRPr lang="en-US"/>
          </a:p>
        </p:txBody>
      </p:sp>
      <p:sp>
        <p:nvSpPr>
          <p:cNvPr id="18" name="Text 16"/>
          <p:cNvSpPr/>
          <p:nvPr/>
        </p:nvSpPr>
        <p:spPr>
          <a:xfrm>
            <a:off x="5486400" y="4206240"/>
            <a:ext cx="292608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Business</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Value</a:t>
            </a:r>
            <a:endParaRPr lang="en-US" sz="1000" dirty="0"/>
          </a:p>
        </p:txBody>
      </p:sp>
      <p:sp>
        <p:nvSpPr>
          <p:cNvPr id="19" name="Text 17"/>
          <p:cNvSpPr/>
          <p:nvPr/>
        </p:nvSpPr>
        <p:spPr>
          <a:xfrm>
            <a:off x="457200" y="4846320"/>
            <a:ext cx="8229600" cy="228600"/>
          </a:xfrm>
          <a:prstGeom prst="rect">
            <a:avLst/>
          </a:prstGeom>
          <a:noFill/>
          <a:ln/>
        </p:spPr>
        <p:txBody>
          <a:bodyPr wrap="square" lIns="0" tIns="0" rIns="0" bIns="0" rtlCol="0" anchor="ctr"/>
          <a:lstStyle/>
          <a:p>
            <a:pPr marL="0" indent="0">
              <a:buNone/>
            </a:pPr>
            <a:r>
              <a:rPr lang="en-US" sz="800" dirty="0">
                <a:solidFill>
                  <a:srgbClr val="8899A6"/>
                </a:solidFill>
              </a:rPr>
              <a:t>BVIF  ·  4 / 10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320040"/>
          </a:xfrm>
          <a:prstGeom prst="rect">
            <a:avLst/>
          </a:prstGeom>
          <a:noFill/>
          <a:ln/>
        </p:spPr>
        <p:txBody>
          <a:bodyPr wrap="square" lIns="0" tIns="0" rIns="0" bIns="0" rtlCol="0" anchor="ctr"/>
          <a:lstStyle/>
          <a:p>
            <a:pPr marL="0" indent="0">
              <a:buNone/>
            </a:pPr>
            <a:r>
              <a:rPr lang="en-US" sz="1000" kern="0" spc="300" dirty="0">
                <a:solidFill>
                  <a:srgbClr val="146EB4"/>
                </a:solidFill>
                <a:latin typeface="Calibri" pitchFamily="34" charset="0"/>
                <a:ea typeface="Calibri" pitchFamily="34" charset="-122"/>
                <a:cs typeface="Calibri" pitchFamily="34" charset="-120"/>
              </a:rPr>
              <a:t>02  ·  PROCESS</a:t>
            </a:r>
            <a:endParaRPr lang="en-US" sz="1000" dirty="0"/>
          </a:p>
        </p:txBody>
      </p:sp>
      <p:sp>
        <p:nvSpPr>
          <p:cNvPr id="3" name="Text 1"/>
          <p:cNvSpPr/>
          <p:nvPr/>
        </p:nvSpPr>
        <p:spPr>
          <a:xfrm>
            <a:off x="548640" y="640080"/>
            <a:ext cx="8229600" cy="548640"/>
          </a:xfrm>
          <a:prstGeom prst="rect">
            <a:avLst/>
          </a:prstGeom>
          <a:noFill/>
          <a:ln/>
        </p:spPr>
        <p:txBody>
          <a:bodyPr wrap="square" lIns="0" tIns="0" rIns="0" bIns="0" rtlCol="0" anchor="ctr"/>
          <a:lstStyle/>
          <a:p>
            <a:pPr marL="0" indent="0">
              <a:buNone/>
            </a:pPr>
            <a:r>
              <a:rPr lang="en-US" sz="3000" dirty="0">
                <a:solidFill>
                  <a:srgbClr val="232F3E"/>
                </a:solidFill>
                <a:latin typeface="Calibri" pitchFamily="34" charset="0"/>
                <a:ea typeface="Calibri" pitchFamily="34" charset="-122"/>
                <a:cs typeface="Calibri" pitchFamily="34" charset="-120"/>
              </a:rPr>
              <a:t>The 7-Stage Process</a:t>
            </a:r>
            <a:endParaRPr lang="en-US" sz="3000" dirty="0"/>
          </a:p>
        </p:txBody>
      </p:sp>
      <p:sp>
        <p:nvSpPr>
          <p:cNvPr id="4" name="Shape 2"/>
          <p:cNvSpPr/>
          <p:nvPr/>
        </p:nvSpPr>
        <p:spPr>
          <a:xfrm>
            <a:off x="640080" y="1371600"/>
            <a:ext cx="320040" cy="320040"/>
          </a:xfrm>
          <a:prstGeom prst="ellipse">
            <a:avLst/>
          </a:prstGeom>
          <a:solidFill>
            <a:srgbClr val="146EB4"/>
          </a:solidFill>
          <a:ln/>
        </p:spPr>
        <p:txBody>
          <a:bodyPr/>
          <a:lstStyle/>
          <a:p>
            <a:endParaRPr lang="en-US"/>
          </a:p>
        </p:txBody>
      </p:sp>
      <p:sp>
        <p:nvSpPr>
          <p:cNvPr id="5" name="Text 3"/>
          <p:cNvSpPr/>
          <p:nvPr/>
        </p:nvSpPr>
        <p:spPr>
          <a:xfrm>
            <a:off x="640080" y="1371600"/>
            <a:ext cx="320040" cy="320040"/>
          </a:xfrm>
          <a:prstGeom prst="rect">
            <a:avLst/>
          </a:prstGeom>
          <a:noFill/>
          <a:ln/>
        </p:spPr>
        <p:txBody>
          <a:bodyPr wrap="square" lIns="0" tIns="0" rIns="0" bIns="0" rtlCol="0" anchor="ctr"/>
          <a:lstStyle/>
          <a:p>
            <a:pPr marL="0" indent="0" algn="ctr">
              <a:buNone/>
            </a:pPr>
            <a:r>
              <a:rPr lang="en-US" sz="1000" dirty="0">
                <a:solidFill>
                  <a:srgbClr val="FFFFFF"/>
                </a:solidFill>
              </a:rPr>
              <a:t>1</a:t>
            </a:r>
            <a:endParaRPr lang="en-US" sz="1000" dirty="0"/>
          </a:p>
        </p:txBody>
      </p:sp>
      <p:sp>
        <p:nvSpPr>
          <p:cNvPr id="6" name="Shape 4"/>
          <p:cNvSpPr/>
          <p:nvPr/>
        </p:nvSpPr>
        <p:spPr>
          <a:xfrm>
            <a:off x="800100" y="1691640"/>
            <a:ext cx="0" cy="155448"/>
          </a:xfrm>
          <a:prstGeom prst="line">
            <a:avLst/>
          </a:prstGeom>
          <a:noFill/>
          <a:ln w="12700">
            <a:solidFill>
              <a:srgbClr val="8899A6"/>
            </a:solidFill>
            <a:prstDash val="solid"/>
          </a:ln>
        </p:spPr>
        <p:txBody>
          <a:bodyPr/>
          <a:lstStyle/>
          <a:p>
            <a:endParaRPr lang="en-US"/>
          </a:p>
        </p:txBody>
      </p:sp>
      <p:sp>
        <p:nvSpPr>
          <p:cNvPr id="7" name="Text 5"/>
          <p:cNvSpPr/>
          <p:nvPr/>
        </p:nvSpPr>
        <p:spPr>
          <a:xfrm>
            <a:off x="1097280" y="1325880"/>
            <a:ext cx="2926080" cy="365760"/>
          </a:xfrm>
          <a:prstGeom prst="rect">
            <a:avLst/>
          </a:prstGeom>
          <a:noFill/>
          <a:ln/>
        </p:spPr>
        <p:txBody>
          <a:bodyPr wrap="square" lIns="0" tIns="0" rIns="0" bIns="0" rtlCol="0" anchor="ctr"/>
          <a:lstStyle/>
          <a:p>
            <a:pPr marL="0" indent="0">
              <a:buNone/>
            </a:pPr>
            <a:r>
              <a:rPr lang="en-US" sz="1200" dirty="0">
                <a:solidFill>
                  <a:srgbClr val="232F3E"/>
                </a:solidFill>
                <a:latin typeface="Calibri" pitchFamily="34" charset="0"/>
                <a:ea typeface="Calibri" pitchFamily="34" charset="-122"/>
                <a:cs typeface="Calibri" pitchFamily="34" charset="-120"/>
              </a:rPr>
              <a:t>Initiative Definition</a:t>
            </a:r>
            <a:endParaRPr lang="en-US" sz="1200" dirty="0"/>
          </a:p>
        </p:txBody>
      </p:sp>
      <p:sp>
        <p:nvSpPr>
          <p:cNvPr id="8" name="Text 6"/>
          <p:cNvSpPr/>
          <p:nvPr/>
        </p:nvSpPr>
        <p:spPr>
          <a:xfrm>
            <a:off x="4114800" y="1325880"/>
            <a:ext cx="4114800" cy="36576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What is the AI initiative?</a:t>
            </a:r>
            <a:endParaRPr lang="en-US" sz="1100" dirty="0"/>
          </a:p>
        </p:txBody>
      </p:sp>
      <p:sp>
        <p:nvSpPr>
          <p:cNvPr id="9" name="Shape 7"/>
          <p:cNvSpPr/>
          <p:nvPr/>
        </p:nvSpPr>
        <p:spPr>
          <a:xfrm>
            <a:off x="640080" y="1847088"/>
            <a:ext cx="320040" cy="320040"/>
          </a:xfrm>
          <a:prstGeom prst="ellipse">
            <a:avLst/>
          </a:prstGeom>
          <a:solidFill>
            <a:srgbClr val="146EB4"/>
          </a:solidFill>
          <a:ln/>
        </p:spPr>
        <p:txBody>
          <a:bodyPr/>
          <a:lstStyle/>
          <a:p>
            <a:endParaRPr lang="en-US"/>
          </a:p>
        </p:txBody>
      </p:sp>
      <p:sp>
        <p:nvSpPr>
          <p:cNvPr id="10" name="Text 8"/>
          <p:cNvSpPr/>
          <p:nvPr/>
        </p:nvSpPr>
        <p:spPr>
          <a:xfrm>
            <a:off x="640080" y="1847088"/>
            <a:ext cx="320040" cy="320040"/>
          </a:xfrm>
          <a:prstGeom prst="rect">
            <a:avLst/>
          </a:prstGeom>
          <a:noFill/>
          <a:ln/>
        </p:spPr>
        <p:txBody>
          <a:bodyPr wrap="square" lIns="0" tIns="0" rIns="0" bIns="0" rtlCol="0" anchor="ctr"/>
          <a:lstStyle/>
          <a:p>
            <a:pPr marL="0" indent="0" algn="ctr">
              <a:buNone/>
            </a:pPr>
            <a:r>
              <a:rPr lang="en-US" sz="1000" dirty="0">
                <a:solidFill>
                  <a:srgbClr val="FFFFFF"/>
                </a:solidFill>
              </a:rPr>
              <a:t>2</a:t>
            </a:r>
            <a:endParaRPr lang="en-US" sz="1000" dirty="0"/>
          </a:p>
        </p:txBody>
      </p:sp>
      <p:sp>
        <p:nvSpPr>
          <p:cNvPr id="11" name="Shape 9"/>
          <p:cNvSpPr/>
          <p:nvPr/>
        </p:nvSpPr>
        <p:spPr>
          <a:xfrm>
            <a:off x="800100" y="2167128"/>
            <a:ext cx="0" cy="155448"/>
          </a:xfrm>
          <a:prstGeom prst="line">
            <a:avLst/>
          </a:prstGeom>
          <a:noFill/>
          <a:ln w="12700">
            <a:solidFill>
              <a:srgbClr val="8899A6"/>
            </a:solidFill>
            <a:prstDash val="solid"/>
          </a:ln>
        </p:spPr>
        <p:txBody>
          <a:bodyPr/>
          <a:lstStyle/>
          <a:p>
            <a:endParaRPr lang="en-US"/>
          </a:p>
        </p:txBody>
      </p:sp>
      <p:sp>
        <p:nvSpPr>
          <p:cNvPr id="12" name="Text 10"/>
          <p:cNvSpPr/>
          <p:nvPr/>
        </p:nvSpPr>
        <p:spPr>
          <a:xfrm>
            <a:off x="1097280" y="1801368"/>
            <a:ext cx="2926080" cy="365760"/>
          </a:xfrm>
          <a:prstGeom prst="rect">
            <a:avLst/>
          </a:prstGeom>
          <a:noFill/>
          <a:ln/>
        </p:spPr>
        <p:txBody>
          <a:bodyPr wrap="square" lIns="0" tIns="0" rIns="0" bIns="0" rtlCol="0" anchor="ctr"/>
          <a:lstStyle/>
          <a:p>
            <a:pPr marL="0" indent="0">
              <a:buNone/>
            </a:pPr>
            <a:r>
              <a:rPr lang="en-US" sz="1200" dirty="0">
                <a:solidFill>
                  <a:srgbClr val="232F3E"/>
                </a:solidFill>
                <a:latin typeface="Calibri" pitchFamily="34" charset="0"/>
                <a:ea typeface="Calibri" pitchFamily="34" charset="-122"/>
                <a:cs typeface="Calibri" pitchFamily="34" charset="-120"/>
              </a:rPr>
              <a:t>Business Value Mapping</a:t>
            </a:r>
            <a:endParaRPr lang="en-US" sz="1200" dirty="0"/>
          </a:p>
        </p:txBody>
      </p:sp>
      <p:sp>
        <p:nvSpPr>
          <p:cNvPr id="13" name="Text 11"/>
          <p:cNvSpPr/>
          <p:nvPr/>
        </p:nvSpPr>
        <p:spPr>
          <a:xfrm>
            <a:off x="4114800" y="1801368"/>
            <a:ext cx="4114800" cy="36576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What value categories apply?</a:t>
            </a:r>
            <a:endParaRPr lang="en-US" sz="1100" dirty="0"/>
          </a:p>
        </p:txBody>
      </p:sp>
      <p:sp>
        <p:nvSpPr>
          <p:cNvPr id="14" name="Shape 12"/>
          <p:cNvSpPr/>
          <p:nvPr/>
        </p:nvSpPr>
        <p:spPr>
          <a:xfrm>
            <a:off x="640080" y="2322576"/>
            <a:ext cx="320040" cy="320040"/>
          </a:xfrm>
          <a:prstGeom prst="ellipse">
            <a:avLst/>
          </a:prstGeom>
          <a:solidFill>
            <a:srgbClr val="146EB4"/>
          </a:solidFill>
          <a:ln/>
        </p:spPr>
        <p:txBody>
          <a:bodyPr/>
          <a:lstStyle/>
          <a:p>
            <a:endParaRPr lang="en-US"/>
          </a:p>
        </p:txBody>
      </p:sp>
      <p:sp>
        <p:nvSpPr>
          <p:cNvPr id="15" name="Text 13"/>
          <p:cNvSpPr/>
          <p:nvPr/>
        </p:nvSpPr>
        <p:spPr>
          <a:xfrm>
            <a:off x="640080" y="2322576"/>
            <a:ext cx="320040" cy="320040"/>
          </a:xfrm>
          <a:prstGeom prst="rect">
            <a:avLst/>
          </a:prstGeom>
          <a:noFill/>
          <a:ln/>
        </p:spPr>
        <p:txBody>
          <a:bodyPr wrap="square" lIns="0" tIns="0" rIns="0" bIns="0" rtlCol="0" anchor="ctr"/>
          <a:lstStyle/>
          <a:p>
            <a:pPr marL="0" indent="0" algn="ctr">
              <a:buNone/>
            </a:pPr>
            <a:r>
              <a:rPr lang="en-US" sz="1000" dirty="0">
                <a:solidFill>
                  <a:srgbClr val="FFFFFF"/>
                </a:solidFill>
              </a:rPr>
              <a:t>3</a:t>
            </a:r>
            <a:endParaRPr lang="en-US" sz="1000" dirty="0"/>
          </a:p>
        </p:txBody>
      </p:sp>
      <p:sp>
        <p:nvSpPr>
          <p:cNvPr id="16" name="Shape 14"/>
          <p:cNvSpPr/>
          <p:nvPr/>
        </p:nvSpPr>
        <p:spPr>
          <a:xfrm>
            <a:off x="800100" y="2642616"/>
            <a:ext cx="0" cy="155448"/>
          </a:xfrm>
          <a:prstGeom prst="line">
            <a:avLst/>
          </a:prstGeom>
          <a:noFill/>
          <a:ln w="12700">
            <a:solidFill>
              <a:srgbClr val="8899A6"/>
            </a:solidFill>
            <a:prstDash val="solid"/>
          </a:ln>
        </p:spPr>
        <p:txBody>
          <a:bodyPr/>
          <a:lstStyle/>
          <a:p>
            <a:endParaRPr lang="en-US"/>
          </a:p>
        </p:txBody>
      </p:sp>
      <p:sp>
        <p:nvSpPr>
          <p:cNvPr id="17" name="Text 15"/>
          <p:cNvSpPr/>
          <p:nvPr/>
        </p:nvSpPr>
        <p:spPr>
          <a:xfrm>
            <a:off x="1097280" y="2276856"/>
            <a:ext cx="2926080" cy="365760"/>
          </a:xfrm>
          <a:prstGeom prst="rect">
            <a:avLst/>
          </a:prstGeom>
          <a:noFill/>
          <a:ln/>
        </p:spPr>
        <p:txBody>
          <a:bodyPr wrap="square" lIns="0" tIns="0" rIns="0" bIns="0" rtlCol="0" anchor="ctr"/>
          <a:lstStyle/>
          <a:p>
            <a:pPr marL="0" indent="0">
              <a:buNone/>
            </a:pPr>
            <a:r>
              <a:rPr lang="en-US" sz="1200" dirty="0">
                <a:solidFill>
                  <a:srgbClr val="232F3E"/>
                </a:solidFill>
                <a:latin typeface="Calibri" pitchFamily="34" charset="0"/>
                <a:ea typeface="Calibri" pitchFamily="34" charset="-122"/>
                <a:cs typeface="Calibri" pitchFamily="34" charset="-120"/>
              </a:rPr>
              <a:t>Metrics Identification</a:t>
            </a:r>
            <a:endParaRPr lang="en-US" sz="1200" dirty="0"/>
          </a:p>
        </p:txBody>
      </p:sp>
      <p:sp>
        <p:nvSpPr>
          <p:cNvPr id="18" name="Text 16"/>
          <p:cNvSpPr/>
          <p:nvPr/>
        </p:nvSpPr>
        <p:spPr>
          <a:xfrm>
            <a:off x="4114800" y="2276856"/>
            <a:ext cx="4114800" cy="36576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Which metrics measure value?</a:t>
            </a:r>
            <a:endParaRPr lang="en-US" sz="1100" dirty="0"/>
          </a:p>
        </p:txBody>
      </p:sp>
      <p:sp>
        <p:nvSpPr>
          <p:cNvPr id="19" name="Shape 17"/>
          <p:cNvSpPr/>
          <p:nvPr/>
        </p:nvSpPr>
        <p:spPr>
          <a:xfrm>
            <a:off x="640080" y="2798064"/>
            <a:ext cx="320040" cy="320040"/>
          </a:xfrm>
          <a:prstGeom prst="ellipse">
            <a:avLst/>
          </a:prstGeom>
          <a:solidFill>
            <a:srgbClr val="146EB4"/>
          </a:solidFill>
          <a:ln/>
        </p:spPr>
        <p:txBody>
          <a:bodyPr/>
          <a:lstStyle/>
          <a:p>
            <a:endParaRPr lang="en-US"/>
          </a:p>
        </p:txBody>
      </p:sp>
      <p:sp>
        <p:nvSpPr>
          <p:cNvPr id="20" name="Text 18"/>
          <p:cNvSpPr/>
          <p:nvPr/>
        </p:nvSpPr>
        <p:spPr>
          <a:xfrm>
            <a:off x="640080" y="2798064"/>
            <a:ext cx="320040" cy="320040"/>
          </a:xfrm>
          <a:prstGeom prst="rect">
            <a:avLst/>
          </a:prstGeom>
          <a:noFill/>
          <a:ln/>
        </p:spPr>
        <p:txBody>
          <a:bodyPr wrap="square" lIns="0" tIns="0" rIns="0" bIns="0" rtlCol="0" anchor="ctr"/>
          <a:lstStyle/>
          <a:p>
            <a:pPr marL="0" indent="0" algn="ctr">
              <a:buNone/>
            </a:pPr>
            <a:r>
              <a:rPr lang="en-US" sz="1000" dirty="0">
                <a:solidFill>
                  <a:srgbClr val="FFFFFF"/>
                </a:solidFill>
              </a:rPr>
              <a:t>4</a:t>
            </a:r>
            <a:endParaRPr lang="en-US" sz="1000" dirty="0"/>
          </a:p>
        </p:txBody>
      </p:sp>
      <p:sp>
        <p:nvSpPr>
          <p:cNvPr id="21" name="Shape 19"/>
          <p:cNvSpPr/>
          <p:nvPr/>
        </p:nvSpPr>
        <p:spPr>
          <a:xfrm>
            <a:off x="800100" y="3118104"/>
            <a:ext cx="0" cy="155448"/>
          </a:xfrm>
          <a:prstGeom prst="line">
            <a:avLst/>
          </a:prstGeom>
          <a:noFill/>
          <a:ln w="12700">
            <a:solidFill>
              <a:srgbClr val="8899A6"/>
            </a:solidFill>
            <a:prstDash val="solid"/>
          </a:ln>
        </p:spPr>
        <p:txBody>
          <a:bodyPr/>
          <a:lstStyle/>
          <a:p>
            <a:endParaRPr lang="en-US"/>
          </a:p>
        </p:txBody>
      </p:sp>
      <p:sp>
        <p:nvSpPr>
          <p:cNvPr id="22" name="Text 20"/>
          <p:cNvSpPr/>
          <p:nvPr/>
        </p:nvSpPr>
        <p:spPr>
          <a:xfrm>
            <a:off x="1097280" y="2752344"/>
            <a:ext cx="2926080" cy="365760"/>
          </a:xfrm>
          <a:prstGeom prst="rect">
            <a:avLst/>
          </a:prstGeom>
          <a:noFill/>
          <a:ln/>
        </p:spPr>
        <p:txBody>
          <a:bodyPr wrap="square" lIns="0" tIns="0" rIns="0" bIns="0" rtlCol="0" anchor="ctr"/>
          <a:lstStyle/>
          <a:p>
            <a:pPr marL="0" indent="0">
              <a:buNone/>
            </a:pPr>
            <a:r>
              <a:rPr lang="en-US" sz="1200" dirty="0">
                <a:solidFill>
                  <a:srgbClr val="232F3E"/>
                </a:solidFill>
                <a:latin typeface="Calibri" pitchFamily="34" charset="0"/>
                <a:ea typeface="Calibri" pitchFamily="34" charset="-122"/>
                <a:cs typeface="Calibri" pitchFamily="34" charset="-120"/>
              </a:rPr>
              <a:t>Metrics Adjustment</a:t>
            </a:r>
            <a:endParaRPr lang="en-US" sz="1200" dirty="0"/>
          </a:p>
        </p:txBody>
      </p:sp>
      <p:sp>
        <p:nvSpPr>
          <p:cNvPr id="23" name="Text 21"/>
          <p:cNvSpPr/>
          <p:nvPr/>
        </p:nvSpPr>
        <p:spPr>
          <a:xfrm>
            <a:off x="4114800" y="2752344"/>
            <a:ext cx="4114800" cy="36576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Which are feasible to measure?</a:t>
            </a:r>
            <a:endParaRPr lang="en-US" sz="1100" dirty="0"/>
          </a:p>
        </p:txBody>
      </p:sp>
      <p:sp>
        <p:nvSpPr>
          <p:cNvPr id="24" name="Shape 22"/>
          <p:cNvSpPr/>
          <p:nvPr/>
        </p:nvSpPr>
        <p:spPr>
          <a:xfrm>
            <a:off x="640080" y="3273552"/>
            <a:ext cx="320040" cy="320040"/>
          </a:xfrm>
          <a:prstGeom prst="ellipse">
            <a:avLst/>
          </a:prstGeom>
          <a:solidFill>
            <a:srgbClr val="146EB4"/>
          </a:solidFill>
          <a:ln/>
        </p:spPr>
        <p:txBody>
          <a:bodyPr/>
          <a:lstStyle/>
          <a:p>
            <a:endParaRPr lang="en-US"/>
          </a:p>
        </p:txBody>
      </p:sp>
      <p:sp>
        <p:nvSpPr>
          <p:cNvPr id="25" name="Text 23"/>
          <p:cNvSpPr/>
          <p:nvPr/>
        </p:nvSpPr>
        <p:spPr>
          <a:xfrm>
            <a:off x="640080" y="3273552"/>
            <a:ext cx="320040" cy="320040"/>
          </a:xfrm>
          <a:prstGeom prst="rect">
            <a:avLst/>
          </a:prstGeom>
          <a:noFill/>
          <a:ln/>
        </p:spPr>
        <p:txBody>
          <a:bodyPr wrap="square" lIns="0" tIns="0" rIns="0" bIns="0" rtlCol="0" anchor="ctr"/>
          <a:lstStyle/>
          <a:p>
            <a:pPr marL="0" indent="0" algn="ctr">
              <a:buNone/>
            </a:pPr>
            <a:r>
              <a:rPr lang="en-US" sz="1000" dirty="0">
                <a:solidFill>
                  <a:srgbClr val="FFFFFF"/>
                </a:solidFill>
              </a:rPr>
              <a:t>5</a:t>
            </a:r>
            <a:endParaRPr lang="en-US" sz="1000" dirty="0"/>
          </a:p>
        </p:txBody>
      </p:sp>
      <p:sp>
        <p:nvSpPr>
          <p:cNvPr id="26" name="Shape 24"/>
          <p:cNvSpPr/>
          <p:nvPr/>
        </p:nvSpPr>
        <p:spPr>
          <a:xfrm>
            <a:off x="800100" y="3593592"/>
            <a:ext cx="0" cy="155448"/>
          </a:xfrm>
          <a:prstGeom prst="line">
            <a:avLst/>
          </a:prstGeom>
          <a:noFill/>
          <a:ln w="12700">
            <a:solidFill>
              <a:srgbClr val="8899A6"/>
            </a:solidFill>
            <a:prstDash val="solid"/>
          </a:ln>
        </p:spPr>
        <p:txBody>
          <a:bodyPr/>
          <a:lstStyle/>
          <a:p>
            <a:endParaRPr lang="en-US"/>
          </a:p>
        </p:txBody>
      </p:sp>
      <p:sp>
        <p:nvSpPr>
          <p:cNvPr id="27" name="Text 25"/>
          <p:cNvSpPr/>
          <p:nvPr/>
        </p:nvSpPr>
        <p:spPr>
          <a:xfrm>
            <a:off x="1097280" y="3227832"/>
            <a:ext cx="2926080" cy="365760"/>
          </a:xfrm>
          <a:prstGeom prst="rect">
            <a:avLst/>
          </a:prstGeom>
          <a:noFill/>
          <a:ln/>
        </p:spPr>
        <p:txBody>
          <a:bodyPr wrap="square" lIns="0" tIns="0" rIns="0" bIns="0" rtlCol="0" anchor="ctr"/>
          <a:lstStyle/>
          <a:p>
            <a:pPr marL="0" indent="0">
              <a:buNone/>
            </a:pPr>
            <a:r>
              <a:rPr lang="en-US" sz="1200" dirty="0">
                <a:solidFill>
                  <a:srgbClr val="232F3E"/>
                </a:solidFill>
                <a:latin typeface="Calibri" pitchFamily="34" charset="0"/>
                <a:ea typeface="Calibri" pitchFamily="34" charset="-122"/>
                <a:cs typeface="Calibri" pitchFamily="34" charset="-120"/>
              </a:rPr>
              <a:t>Data Collection</a:t>
            </a:r>
            <a:endParaRPr lang="en-US" sz="1200" dirty="0"/>
          </a:p>
        </p:txBody>
      </p:sp>
      <p:sp>
        <p:nvSpPr>
          <p:cNvPr id="28" name="Text 26"/>
          <p:cNvSpPr/>
          <p:nvPr/>
        </p:nvSpPr>
        <p:spPr>
          <a:xfrm>
            <a:off x="4114800" y="3227832"/>
            <a:ext cx="4114800" cy="36576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Gather real numbers (and uncertainty estimations)</a:t>
            </a:r>
            <a:endParaRPr lang="en-US" sz="1100" dirty="0"/>
          </a:p>
        </p:txBody>
      </p:sp>
      <p:sp>
        <p:nvSpPr>
          <p:cNvPr id="29" name="Shape 27"/>
          <p:cNvSpPr/>
          <p:nvPr/>
        </p:nvSpPr>
        <p:spPr>
          <a:xfrm>
            <a:off x="640080" y="3749040"/>
            <a:ext cx="320040" cy="320040"/>
          </a:xfrm>
          <a:prstGeom prst="ellipse">
            <a:avLst/>
          </a:prstGeom>
          <a:solidFill>
            <a:srgbClr val="146EB4"/>
          </a:solidFill>
          <a:ln/>
        </p:spPr>
        <p:txBody>
          <a:bodyPr/>
          <a:lstStyle/>
          <a:p>
            <a:endParaRPr lang="en-US"/>
          </a:p>
        </p:txBody>
      </p:sp>
      <p:sp>
        <p:nvSpPr>
          <p:cNvPr id="30" name="Text 28"/>
          <p:cNvSpPr/>
          <p:nvPr/>
        </p:nvSpPr>
        <p:spPr>
          <a:xfrm>
            <a:off x="640080" y="3749040"/>
            <a:ext cx="320040" cy="320040"/>
          </a:xfrm>
          <a:prstGeom prst="rect">
            <a:avLst/>
          </a:prstGeom>
          <a:noFill/>
          <a:ln/>
        </p:spPr>
        <p:txBody>
          <a:bodyPr wrap="square" lIns="0" tIns="0" rIns="0" bIns="0" rtlCol="0" anchor="ctr"/>
          <a:lstStyle/>
          <a:p>
            <a:pPr marL="0" indent="0" algn="ctr">
              <a:buNone/>
            </a:pPr>
            <a:r>
              <a:rPr lang="en-US" sz="1000" dirty="0">
                <a:solidFill>
                  <a:srgbClr val="FFFFFF"/>
                </a:solidFill>
              </a:rPr>
              <a:t>6</a:t>
            </a:r>
            <a:endParaRPr lang="en-US" sz="1000" dirty="0"/>
          </a:p>
        </p:txBody>
      </p:sp>
      <p:sp>
        <p:nvSpPr>
          <p:cNvPr id="31" name="Shape 29"/>
          <p:cNvSpPr/>
          <p:nvPr/>
        </p:nvSpPr>
        <p:spPr>
          <a:xfrm>
            <a:off x="800100" y="4069080"/>
            <a:ext cx="0" cy="155448"/>
          </a:xfrm>
          <a:prstGeom prst="line">
            <a:avLst/>
          </a:prstGeom>
          <a:noFill/>
          <a:ln w="12700">
            <a:solidFill>
              <a:srgbClr val="8899A6"/>
            </a:solidFill>
            <a:prstDash val="solid"/>
          </a:ln>
        </p:spPr>
        <p:txBody>
          <a:bodyPr/>
          <a:lstStyle/>
          <a:p>
            <a:endParaRPr lang="en-US"/>
          </a:p>
        </p:txBody>
      </p:sp>
      <p:sp>
        <p:nvSpPr>
          <p:cNvPr id="32" name="Text 30"/>
          <p:cNvSpPr/>
          <p:nvPr/>
        </p:nvSpPr>
        <p:spPr>
          <a:xfrm>
            <a:off x="1097280" y="3703320"/>
            <a:ext cx="2926080" cy="365760"/>
          </a:xfrm>
          <a:prstGeom prst="rect">
            <a:avLst/>
          </a:prstGeom>
          <a:noFill/>
          <a:ln/>
        </p:spPr>
        <p:txBody>
          <a:bodyPr wrap="square" lIns="0" tIns="0" rIns="0" bIns="0" rtlCol="0" anchor="ctr"/>
          <a:lstStyle/>
          <a:p>
            <a:pPr marL="0" indent="0">
              <a:buNone/>
            </a:pPr>
            <a:r>
              <a:rPr lang="en-US" sz="1200" dirty="0">
                <a:solidFill>
                  <a:srgbClr val="232F3E"/>
                </a:solidFill>
                <a:latin typeface="Calibri" pitchFamily="34" charset="0"/>
                <a:ea typeface="Calibri" pitchFamily="34" charset="-122"/>
                <a:cs typeface="Calibri" pitchFamily="34" charset="-120"/>
              </a:rPr>
              <a:t>Business Value Calculation</a:t>
            </a:r>
            <a:endParaRPr lang="en-US" sz="1200" dirty="0"/>
          </a:p>
        </p:txBody>
      </p:sp>
      <p:sp>
        <p:nvSpPr>
          <p:cNvPr id="33" name="Text 31"/>
          <p:cNvSpPr/>
          <p:nvPr/>
        </p:nvSpPr>
        <p:spPr>
          <a:xfrm>
            <a:off x="4114800" y="3703320"/>
            <a:ext cx="4114800" cy="36576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Calculate annualized value (within a distribution range)</a:t>
            </a:r>
            <a:endParaRPr lang="en-US" sz="1100" dirty="0"/>
          </a:p>
        </p:txBody>
      </p:sp>
      <p:sp>
        <p:nvSpPr>
          <p:cNvPr id="34" name="Shape 32"/>
          <p:cNvSpPr/>
          <p:nvPr/>
        </p:nvSpPr>
        <p:spPr>
          <a:xfrm>
            <a:off x="640080" y="4224528"/>
            <a:ext cx="320040" cy="320040"/>
          </a:xfrm>
          <a:prstGeom prst="ellipse">
            <a:avLst/>
          </a:prstGeom>
          <a:solidFill>
            <a:srgbClr val="FF9900"/>
          </a:solidFill>
          <a:ln/>
        </p:spPr>
        <p:txBody>
          <a:bodyPr/>
          <a:lstStyle/>
          <a:p>
            <a:endParaRPr lang="en-US"/>
          </a:p>
        </p:txBody>
      </p:sp>
      <p:sp>
        <p:nvSpPr>
          <p:cNvPr id="35" name="Text 33"/>
          <p:cNvSpPr/>
          <p:nvPr/>
        </p:nvSpPr>
        <p:spPr>
          <a:xfrm>
            <a:off x="640080" y="4224528"/>
            <a:ext cx="320040" cy="320040"/>
          </a:xfrm>
          <a:prstGeom prst="rect">
            <a:avLst/>
          </a:prstGeom>
          <a:noFill/>
          <a:ln/>
        </p:spPr>
        <p:txBody>
          <a:bodyPr wrap="square" lIns="0" tIns="0" rIns="0" bIns="0" rtlCol="0" anchor="ctr"/>
          <a:lstStyle/>
          <a:p>
            <a:pPr marL="0" indent="0" algn="ctr">
              <a:buNone/>
            </a:pPr>
            <a:r>
              <a:rPr lang="en-US" sz="1000" dirty="0">
                <a:solidFill>
                  <a:srgbClr val="FFFFFF"/>
                </a:solidFill>
              </a:rPr>
              <a:t>7</a:t>
            </a:r>
            <a:endParaRPr lang="en-US" sz="1000" dirty="0"/>
          </a:p>
        </p:txBody>
      </p:sp>
      <p:sp>
        <p:nvSpPr>
          <p:cNvPr id="36" name="Text 34"/>
          <p:cNvSpPr/>
          <p:nvPr/>
        </p:nvSpPr>
        <p:spPr>
          <a:xfrm>
            <a:off x="1097280" y="4178808"/>
            <a:ext cx="2926080" cy="365760"/>
          </a:xfrm>
          <a:prstGeom prst="rect">
            <a:avLst/>
          </a:prstGeom>
          <a:noFill/>
          <a:ln/>
        </p:spPr>
        <p:txBody>
          <a:bodyPr wrap="square" lIns="0" tIns="0" rIns="0" bIns="0" rtlCol="0" anchor="ctr"/>
          <a:lstStyle/>
          <a:p>
            <a:pPr marL="0" indent="0">
              <a:buNone/>
            </a:pPr>
            <a:r>
              <a:rPr lang="en-US" sz="1200" dirty="0">
                <a:solidFill>
                  <a:srgbClr val="232F3E"/>
                </a:solidFill>
                <a:latin typeface="Calibri" pitchFamily="34" charset="0"/>
                <a:ea typeface="Calibri" pitchFamily="34" charset="-122"/>
                <a:cs typeface="Calibri" pitchFamily="34" charset="-120"/>
              </a:rPr>
              <a:t>Final Results</a:t>
            </a:r>
            <a:endParaRPr lang="en-US" sz="1200" dirty="0"/>
          </a:p>
        </p:txBody>
      </p:sp>
      <p:sp>
        <p:nvSpPr>
          <p:cNvPr id="37" name="Text 35"/>
          <p:cNvSpPr/>
          <p:nvPr/>
        </p:nvSpPr>
        <p:spPr>
          <a:xfrm>
            <a:off x="4114800" y="4178808"/>
            <a:ext cx="4114800" cy="36576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Consolidated report + audit trail</a:t>
            </a:r>
            <a:endParaRPr lang="en-US" sz="1100" dirty="0"/>
          </a:p>
        </p:txBody>
      </p:sp>
      <p:sp>
        <p:nvSpPr>
          <p:cNvPr id="38" name="Text 36"/>
          <p:cNvSpPr/>
          <p:nvPr/>
        </p:nvSpPr>
        <p:spPr>
          <a:xfrm>
            <a:off x="548640" y="4617720"/>
            <a:ext cx="8229600" cy="274320"/>
          </a:xfrm>
          <a:prstGeom prst="rect">
            <a:avLst/>
          </a:prstGeom>
          <a:noFill/>
          <a:ln/>
        </p:spPr>
        <p:txBody>
          <a:bodyPr wrap="square" lIns="0" tIns="0" rIns="0" bIns="0" rtlCol="0" anchor="ctr"/>
          <a:lstStyle/>
          <a:p>
            <a:pPr marL="0" indent="0">
              <a:buNone/>
            </a:pPr>
            <a:r>
              <a:rPr lang="en-US" sz="900" dirty="0">
                <a:solidFill>
                  <a:srgbClr val="8899A6"/>
                </a:solidFill>
                <a:latin typeface="Calibri" pitchFamily="34" charset="0"/>
                <a:ea typeface="Calibri" pitchFamily="34" charset="-122"/>
                <a:cs typeface="Calibri" pitchFamily="34" charset="-120"/>
              </a:rPr>
              <a:t>Approval checkpoints between stages  |  Full audit trail  |  AI-guided execution (Kiro IDE)  </a:t>
            </a:r>
            <a:endParaRPr lang="en-US" sz="900" dirty="0"/>
          </a:p>
        </p:txBody>
      </p:sp>
      <p:sp>
        <p:nvSpPr>
          <p:cNvPr id="39" name="Text 37"/>
          <p:cNvSpPr/>
          <p:nvPr/>
        </p:nvSpPr>
        <p:spPr>
          <a:xfrm>
            <a:off x="457200" y="4846320"/>
            <a:ext cx="8229600" cy="228600"/>
          </a:xfrm>
          <a:prstGeom prst="rect">
            <a:avLst/>
          </a:prstGeom>
          <a:noFill/>
          <a:ln/>
        </p:spPr>
        <p:txBody>
          <a:bodyPr wrap="square" lIns="0" tIns="0" rIns="0" bIns="0" rtlCol="0" anchor="ctr"/>
          <a:lstStyle/>
          <a:p>
            <a:pPr marL="0" indent="0">
              <a:buNone/>
            </a:pPr>
            <a:r>
              <a:rPr lang="en-US" sz="800" dirty="0">
                <a:solidFill>
                  <a:srgbClr val="8899A6"/>
                </a:solidFill>
              </a:rPr>
              <a:t>BVIF  ·  5 / 10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320040"/>
          </a:xfrm>
          <a:prstGeom prst="rect">
            <a:avLst/>
          </a:prstGeom>
          <a:noFill/>
          <a:ln/>
        </p:spPr>
        <p:txBody>
          <a:bodyPr wrap="square" lIns="0" tIns="0" rIns="0" bIns="0" rtlCol="0" anchor="ctr"/>
          <a:lstStyle/>
          <a:p>
            <a:pPr marL="0" indent="0">
              <a:buNone/>
            </a:pPr>
            <a:r>
              <a:rPr lang="en-US" sz="1000" kern="0" spc="300" dirty="0">
                <a:solidFill>
                  <a:srgbClr val="146EB4"/>
                </a:solidFill>
                <a:latin typeface="Calibri" pitchFamily="34" charset="0"/>
                <a:ea typeface="Calibri" pitchFamily="34" charset="-122"/>
                <a:cs typeface="Calibri" pitchFamily="34" charset="-120"/>
              </a:rPr>
              <a:t>03  ·  VALUE</a:t>
            </a:r>
            <a:endParaRPr lang="en-US" sz="1000" dirty="0"/>
          </a:p>
        </p:txBody>
      </p:sp>
      <p:sp>
        <p:nvSpPr>
          <p:cNvPr id="3" name="Text 1"/>
          <p:cNvSpPr/>
          <p:nvPr/>
        </p:nvSpPr>
        <p:spPr>
          <a:xfrm>
            <a:off x="548640" y="640080"/>
            <a:ext cx="8229600" cy="548640"/>
          </a:xfrm>
          <a:prstGeom prst="rect">
            <a:avLst/>
          </a:prstGeom>
          <a:noFill/>
          <a:ln/>
        </p:spPr>
        <p:txBody>
          <a:bodyPr wrap="square" lIns="0" tIns="0" rIns="0" bIns="0" rtlCol="0" anchor="ctr"/>
          <a:lstStyle/>
          <a:p>
            <a:pPr marL="0" indent="0">
              <a:buNone/>
            </a:pPr>
            <a:r>
              <a:rPr lang="en-US" sz="3000" dirty="0">
                <a:solidFill>
                  <a:srgbClr val="232F3E"/>
                </a:solidFill>
                <a:latin typeface="Calibri" pitchFamily="34" charset="0"/>
                <a:ea typeface="Calibri" pitchFamily="34" charset="-122"/>
                <a:cs typeface="Calibri" pitchFamily="34" charset="-120"/>
              </a:rPr>
              <a:t>Why It Matters</a:t>
            </a:r>
            <a:endParaRPr lang="en-US" sz="3000" dirty="0"/>
          </a:p>
        </p:txBody>
      </p:sp>
      <p:sp>
        <p:nvSpPr>
          <p:cNvPr id="4" name="Shape 2"/>
          <p:cNvSpPr/>
          <p:nvPr/>
        </p:nvSpPr>
        <p:spPr>
          <a:xfrm>
            <a:off x="548640" y="1371600"/>
            <a:ext cx="3840480" cy="731520"/>
          </a:xfrm>
          <a:prstGeom prst="roundRect">
            <a:avLst>
              <a:gd name="adj" fmla="val 6250"/>
            </a:avLst>
          </a:prstGeom>
          <a:solidFill>
            <a:srgbClr val="F5F7FA"/>
          </a:solidFill>
          <a:ln/>
        </p:spPr>
        <p:txBody>
          <a:bodyPr/>
          <a:lstStyle/>
          <a:p>
            <a:endParaRPr lang="en-US"/>
          </a:p>
        </p:txBody>
      </p:sp>
      <p:sp>
        <p:nvSpPr>
          <p:cNvPr id="5" name="Shape 3"/>
          <p:cNvSpPr/>
          <p:nvPr/>
        </p:nvSpPr>
        <p:spPr>
          <a:xfrm>
            <a:off x="548640" y="1371600"/>
            <a:ext cx="54864" cy="731520"/>
          </a:xfrm>
          <a:prstGeom prst="rect">
            <a:avLst/>
          </a:prstGeom>
          <a:solidFill>
            <a:srgbClr val="146EB4"/>
          </a:solidFill>
          <a:ln/>
        </p:spPr>
        <p:txBody>
          <a:bodyPr/>
          <a:lstStyle/>
          <a:p>
            <a:endParaRPr lang="en-US"/>
          </a:p>
        </p:txBody>
      </p:sp>
      <p:sp>
        <p:nvSpPr>
          <p:cNvPr id="6" name="Text 4"/>
          <p:cNvSpPr/>
          <p:nvPr/>
        </p:nvSpPr>
        <p:spPr>
          <a:xfrm>
            <a:off x="731520" y="1444752"/>
            <a:ext cx="3566160" cy="274320"/>
          </a:xfrm>
          <a:prstGeom prst="rect">
            <a:avLst/>
          </a:prstGeom>
          <a:noFill/>
          <a:ln/>
        </p:spPr>
        <p:txBody>
          <a:bodyPr wrap="square" lIns="0" tIns="0" rIns="0" bIns="0" rtlCol="0" anchor="ctr"/>
          <a:lstStyle/>
          <a:p>
            <a:pPr marL="0" indent="0">
              <a:buNone/>
            </a:pPr>
            <a:r>
              <a:rPr lang="en-US" sz="1100" dirty="0">
                <a:solidFill>
                  <a:srgbClr val="232F3E"/>
                </a:solidFill>
                <a:latin typeface="Calibri" pitchFamily="34" charset="0"/>
                <a:ea typeface="Calibri" pitchFamily="34" charset="-122"/>
                <a:cs typeface="Calibri" pitchFamily="34" charset="-120"/>
              </a:rPr>
              <a:t>Validate Before Committing</a:t>
            </a:r>
            <a:endParaRPr lang="en-US" sz="1100" dirty="0"/>
          </a:p>
        </p:txBody>
      </p:sp>
      <p:sp>
        <p:nvSpPr>
          <p:cNvPr id="7" name="Text 5"/>
          <p:cNvSpPr/>
          <p:nvPr/>
        </p:nvSpPr>
        <p:spPr>
          <a:xfrm>
            <a:off x="731520" y="1719072"/>
            <a:ext cx="3566160" cy="32004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Know if an initiative has meaningful value before allocating resources</a:t>
            </a:r>
            <a:endParaRPr lang="en-US" sz="1000" dirty="0"/>
          </a:p>
        </p:txBody>
      </p:sp>
      <p:sp>
        <p:nvSpPr>
          <p:cNvPr id="8" name="Shape 6"/>
          <p:cNvSpPr/>
          <p:nvPr/>
        </p:nvSpPr>
        <p:spPr>
          <a:xfrm>
            <a:off x="548640" y="2240280"/>
            <a:ext cx="3840480" cy="731520"/>
          </a:xfrm>
          <a:prstGeom prst="roundRect">
            <a:avLst>
              <a:gd name="adj" fmla="val 6250"/>
            </a:avLst>
          </a:prstGeom>
          <a:solidFill>
            <a:srgbClr val="F5F7FA"/>
          </a:solidFill>
          <a:ln/>
        </p:spPr>
        <p:txBody>
          <a:bodyPr/>
          <a:lstStyle/>
          <a:p>
            <a:endParaRPr lang="en-US"/>
          </a:p>
        </p:txBody>
      </p:sp>
      <p:sp>
        <p:nvSpPr>
          <p:cNvPr id="9" name="Shape 7"/>
          <p:cNvSpPr/>
          <p:nvPr/>
        </p:nvSpPr>
        <p:spPr>
          <a:xfrm>
            <a:off x="548640" y="2240280"/>
            <a:ext cx="54864" cy="731520"/>
          </a:xfrm>
          <a:prstGeom prst="rect">
            <a:avLst/>
          </a:prstGeom>
          <a:solidFill>
            <a:srgbClr val="146EB4"/>
          </a:solidFill>
          <a:ln/>
        </p:spPr>
        <p:txBody>
          <a:bodyPr/>
          <a:lstStyle/>
          <a:p>
            <a:endParaRPr lang="en-US"/>
          </a:p>
        </p:txBody>
      </p:sp>
      <p:sp>
        <p:nvSpPr>
          <p:cNvPr id="10" name="Text 8"/>
          <p:cNvSpPr/>
          <p:nvPr/>
        </p:nvSpPr>
        <p:spPr>
          <a:xfrm>
            <a:off x="731520" y="2313432"/>
            <a:ext cx="3566160" cy="274320"/>
          </a:xfrm>
          <a:prstGeom prst="rect">
            <a:avLst/>
          </a:prstGeom>
          <a:noFill/>
          <a:ln/>
        </p:spPr>
        <p:txBody>
          <a:bodyPr wrap="square" lIns="0" tIns="0" rIns="0" bIns="0" rtlCol="0" anchor="ctr"/>
          <a:lstStyle/>
          <a:p>
            <a:pPr marL="0" indent="0">
              <a:buNone/>
            </a:pPr>
            <a:r>
              <a:rPr lang="en-US" sz="1100" dirty="0">
                <a:solidFill>
                  <a:srgbClr val="232F3E"/>
                </a:solidFill>
                <a:latin typeface="Calibri" pitchFamily="34" charset="0"/>
                <a:ea typeface="Calibri" pitchFamily="34" charset="-122"/>
                <a:cs typeface="Calibri" pitchFamily="34" charset="-120"/>
              </a:rPr>
              <a:t>Structure Over Intuition</a:t>
            </a:r>
            <a:endParaRPr lang="en-US" sz="1100" dirty="0"/>
          </a:p>
        </p:txBody>
      </p:sp>
      <p:sp>
        <p:nvSpPr>
          <p:cNvPr id="11" name="Text 9"/>
          <p:cNvSpPr/>
          <p:nvPr/>
        </p:nvSpPr>
        <p:spPr>
          <a:xfrm>
            <a:off x="731520" y="2587752"/>
            <a:ext cx="3566160" cy="32004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Move beyond gut-feel AI decisions with a repeatable, evidence-based process</a:t>
            </a:r>
            <a:endParaRPr lang="en-US" sz="1000" dirty="0"/>
          </a:p>
        </p:txBody>
      </p:sp>
      <p:sp>
        <p:nvSpPr>
          <p:cNvPr id="12" name="Shape 10"/>
          <p:cNvSpPr/>
          <p:nvPr/>
        </p:nvSpPr>
        <p:spPr>
          <a:xfrm>
            <a:off x="548640" y="3108960"/>
            <a:ext cx="3840480" cy="731520"/>
          </a:xfrm>
          <a:prstGeom prst="roundRect">
            <a:avLst>
              <a:gd name="adj" fmla="val 6250"/>
            </a:avLst>
          </a:prstGeom>
          <a:solidFill>
            <a:srgbClr val="F5F7FA"/>
          </a:solidFill>
          <a:ln/>
        </p:spPr>
        <p:txBody>
          <a:bodyPr/>
          <a:lstStyle/>
          <a:p>
            <a:endParaRPr lang="en-US"/>
          </a:p>
        </p:txBody>
      </p:sp>
      <p:sp>
        <p:nvSpPr>
          <p:cNvPr id="13" name="Shape 11"/>
          <p:cNvSpPr/>
          <p:nvPr/>
        </p:nvSpPr>
        <p:spPr>
          <a:xfrm>
            <a:off x="548640" y="3108960"/>
            <a:ext cx="54864" cy="731520"/>
          </a:xfrm>
          <a:prstGeom prst="rect">
            <a:avLst/>
          </a:prstGeom>
          <a:solidFill>
            <a:srgbClr val="146EB4"/>
          </a:solidFill>
          <a:ln/>
        </p:spPr>
        <p:txBody>
          <a:bodyPr/>
          <a:lstStyle/>
          <a:p>
            <a:endParaRPr lang="en-US"/>
          </a:p>
        </p:txBody>
      </p:sp>
      <p:sp>
        <p:nvSpPr>
          <p:cNvPr id="14" name="Text 12"/>
          <p:cNvSpPr/>
          <p:nvPr/>
        </p:nvSpPr>
        <p:spPr>
          <a:xfrm>
            <a:off x="731520" y="3182112"/>
            <a:ext cx="3566160" cy="274320"/>
          </a:xfrm>
          <a:prstGeom prst="rect">
            <a:avLst/>
          </a:prstGeom>
          <a:noFill/>
          <a:ln/>
        </p:spPr>
        <p:txBody>
          <a:bodyPr wrap="square" lIns="0" tIns="0" rIns="0" bIns="0" rtlCol="0" anchor="ctr"/>
          <a:lstStyle/>
          <a:p>
            <a:pPr marL="0" indent="0">
              <a:buNone/>
            </a:pPr>
            <a:r>
              <a:rPr lang="en-US" sz="1100" dirty="0">
                <a:solidFill>
                  <a:srgbClr val="232F3E"/>
                </a:solidFill>
                <a:latin typeface="Calibri" pitchFamily="34" charset="0"/>
                <a:ea typeface="Calibri" pitchFamily="34" charset="-122"/>
                <a:cs typeface="Calibri" pitchFamily="34" charset="-120"/>
              </a:rPr>
              <a:t>Common Language</a:t>
            </a:r>
            <a:endParaRPr lang="en-US" sz="1100" dirty="0"/>
          </a:p>
        </p:txBody>
      </p:sp>
      <p:sp>
        <p:nvSpPr>
          <p:cNvPr id="15" name="Text 13"/>
          <p:cNvSpPr/>
          <p:nvPr/>
        </p:nvSpPr>
        <p:spPr>
          <a:xfrm>
            <a:off x="731520" y="3456432"/>
            <a:ext cx="3566160" cy="32004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Bridge business and technology teams around quantified value</a:t>
            </a:r>
            <a:endParaRPr lang="en-US" sz="1000" dirty="0"/>
          </a:p>
        </p:txBody>
      </p:sp>
      <p:sp>
        <p:nvSpPr>
          <p:cNvPr id="16" name="Shape 14"/>
          <p:cNvSpPr/>
          <p:nvPr/>
        </p:nvSpPr>
        <p:spPr>
          <a:xfrm>
            <a:off x="4754880" y="1645920"/>
            <a:ext cx="3840480" cy="731520"/>
          </a:xfrm>
          <a:prstGeom prst="roundRect">
            <a:avLst>
              <a:gd name="adj" fmla="val 6250"/>
            </a:avLst>
          </a:prstGeom>
          <a:solidFill>
            <a:srgbClr val="F5F7FA"/>
          </a:solidFill>
          <a:ln/>
        </p:spPr>
        <p:txBody>
          <a:bodyPr/>
          <a:lstStyle/>
          <a:p>
            <a:endParaRPr lang="en-US"/>
          </a:p>
        </p:txBody>
      </p:sp>
      <p:sp>
        <p:nvSpPr>
          <p:cNvPr id="17" name="Shape 15"/>
          <p:cNvSpPr/>
          <p:nvPr/>
        </p:nvSpPr>
        <p:spPr>
          <a:xfrm>
            <a:off x="4754880" y="1645920"/>
            <a:ext cx="54864" cy="731520"/>
          </a:xfrm>
          <a:prstGeom prst="rect">
            <a:avLst/>
          </a:prstGeom>
          <a:solidFill>
            <a:srgbClr val="FF9900"/>
          </a:solidFill>
          <a:ln/>
        </p:spPr>
        <p:txBody>
          <a:bodyPr/>
          <a:lstStyle/>
          <a:p>
            <a:endParaRPr lang="en-US"/>
          </a:p>
        </p:txBody>
      </p:sp>
      <p:sp>
        <p:nvSpPr>
          <p:cNvPr id="18" name="Text 16"/>
          <p:cNvSpPr/>
          <p:nvPr/>
        </p:nvSpPr>
        <p:spPr>
          <a:xfrm>
            <a:off x="4937760" y="1719072"/>
            <a:ext cx="3566160" cy="274320"/>
          </a:xfrm>
          <a:prstGeom prst="rect">
            <a:avLst/>
          </a:prstGeom>
          <a:noFill/>
          <a:ln/>
        </p:spPr>
        <p:txBody>
          <a:bodyPr wrap="square" lIns="0" tIns="0" rIns="0" bIns="0" rtlCol="0" anchor="ctr"/>
          <a:lstStyle/>
          <a:p>
            <a:pPr marL="0" indent="0">
              <a:buNone/>
            </a:pPr>
            <a:r>
              <a:rPr lang="en-US" sz="1100" dirty="0">
                <a:solidFill>
                  <a:srgbClr val="232F3E"/>
                </a:solidFill>
                <a:latin typeface="Calibri" pitchFamily="34" charset="0"/>
                <a:ea typeface="Calibri" pitchFamily="34" charset="-122"/>
                <a:cs typeface="Calibri" pitchFamily="34" charset="-120"/>
              </a:rPr>
              <a:t>Estimated vs. Realized</a:t>
            </a:r>
            <a:endParaRPr lang="en-US" sz="1100" dirty="0"/>
          </a:p>
        </p:txBody>
      </p:sp>
      <p:sp>
        <p:nvSpPr>
          <p:cNvPr id="19" name="Text 17"/>
          <p:cNvSpPr/>
          <p:nvPr/>
        </p:nvSpPr>
        <p:spPr>
          <a:xfrm>
            <a:off x="4937760" y="1993392"/>
            <a:ext cx="3566160" cy="32004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Compare predicted value against actual results post-implementation</a:t>
            </a:r>
            <a:endParaRPr lang="en-US" sz="1000" dirty="0"/>
          </a:p>
        </p:txBody>
      </p:sp>
      <p:sp>
        <p:nvSpPr>
          <p:cNvPr id="20" name="Shape 18"/>
          <p:cNvSpPr/>
          <p:nvPr/>
        </p:nvSpPr>
        <p:spPr>
          <a:xfrm>
            <a:off x="4754880" y="2514600"/>
            <a:ext cx="3840480" cy="731520"/>
          </a:xfrm>
          <a:prstGeom prst="roundRect">
            <a:avLst>
              <a:gd name="adj" fmla="val 6250"/>
            </a:avLst>
          </a:prstGeom>
          <a:solidFill>
            <a:srgbClr val="F5F7FA"/>
          </a:solidFill>
          <a:ln/>
        </p:spPr>
        <p:txBody>
          <a:bodyPr/>
          <a:lstStyle/>
          <a:p>
            <a:endParaRPr lang="en-US"/>
          </a:p>
        </p:txBody>
      </p:sp>
      <p:sp>
        <p:nvSpPr>
          <p:cNvPr id="21" name="Shape 19"/>
          <p:cNvSpPr/>
          <p:nvPr/>
        </p:nvSpPr>
        <p:spPr>
          <a:xfrm>
            <a:off x="4754880" y="2514600"/>
            <a:ext cx="54864" cy="731520"/>
          </a:xfrm>
          <a:prstGeom prst="rect">
            <a:avLst/>
          </a:prstGeom>
          <a:solidFill>
            <a:srgbClr val="FF9900"/>
          </a:solidFill>
          <a:ln/>
        </p:spPr>
        <p:txBody>
          <a:bodyPr/>
          <a:lstStyle/>
          <a:p>
            <a:endParaRPr lang="en-US"/>
          </a:p>
        </p:txBody>
      </p:sp>
      <p:sp>
        <p:nvSpPr>
          <p:cNvPr id="22" name="Text 20"/>
          <p:cNvSpPr/>
          <p:nvPr/>
        </p:nvSpPr>
        <p:spPr>
          <a:xfrm>
            <a:off x="4937760" y="2587752"/>
            <a:ext cx="3566160" cy="274320"/>
          </a:xfrm>
          <a:prstGeom prst="rect">
            <a:avLst/>
          </a:prstGeom>
          <a:noFill/>
          <a:ln/>
        </p:spPr>
        <p:txBody>
          <a:bodyPr wrap="square" lIns="0" tIns="0" rIns="0" bIns="0" rtlCol="0" anchor="ctr"/>
          <a:lstStyle/>
          <a:p>
            <a:pPr marL="0" indent="0">
              <a:buNone/>
            </a:pPr>
            <a:r>
              <a:rPr lang="en-US" sz="1100" dirty="0">
                <a:solidFill>
                  <a:srgbClr val="232F3E"/>
                </a:solidFill>
                <a:latin typeface="Calibri" pitchFamily="34" charset="0"/>
                <a:ea typeface="Calibri" pitchFamily="34" charset="-122"/>
                <a:cs typeface="Calibri" pitchFamily="34" charset="-120"/>
              </a:rPr>
              <a:t>Portfolio Baseline</a:t>
            </a:r>
            <a:endParaRPr lang="en-US" sz="1100" dirty="0"/>
          </a:p>
        </p:txBody>
      </p:sp>
      <p:sp>
        <p:nvSpPr>
          <p:cNvPr id="23" name="Text 21"/>
          <p:cNvSpPr/>
          <p:nvPr/>
        </p:nvSpPr>
        <p:spPr>
          <a:xfrm>
            <a:off x="4937760" y="2862072"/>
            <a:ext cx="3566160" cy="32004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Compare initiatives against each other; track estimated vs. realized value to improve over time</a:t>
            </a:r>
            <a:endParaRPr lang="en-US" sz="1000" dirty="0"/>
          </a:p>
        </p:txBody>
      </p:sp>
      <p:sp>
        <p:nvSpPr>
          <p:cNvPr id="24" name="Text 22"/>
          <p:cNvSpPr/>
          <p:nvPr/>
        </p:nvSpPr>
        <p:spPr>
          <a:xfrm>
            <a:off x="457200" y="4846320"/>
            <a:ext cx="8229600" cy="228600"/>
          </a:xfrm>
          <a:prstGeom prst="rect">
            <a:avLst/>
          </a:prstGeom>
          <a:noFill/>
          <a:ln/>
        </p:spPr>
        <p:txBody>
          <a:bodyPr wrap="square" lIns="0" tIns="0" rIns="0" bIns="0" rtlCol="0" anchor="ctr"/>
          <a:lstStyle/>
          <a:p>
            <a:pPr marL="0" indent="0">
              <a:buNone/>
            </a:pPr>
            <a:r>
              <a:rPr lang="en-US" sz="800" dirty="0">
                <a:solidFill>
                  <a:srgbClr val="8899A6"/>
                </a:solidFill>
              </a:rPr>
              <a:t>BVIF  ·  6 / 10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320040"/>
          </a:xfrm>
          <a:prstGeom prst="rect">
            <a:avLst/>
          </a:prstGeom>
          <a:noFill/>
          <a:ln/>
        </p:spPr>
        <p:txBody>
          <a:bodyPr wrap="square" lIns="0" tIns="0" rIns="0" bIns="0" rtlCol="0" anchor="ctr"/>
          <a:lstStyle/>
          <a:p>
            <a:pPr marL="0" indent="0">
              <a:buNone/>
            </a:pPr>
            <a:r>
              <a:rPr lang="en-US" sz="1000" kern="0" spc="300" dirty="0">
                <a:solidFill>
                  <a:srgbClr val="146EB4"/>
                </a:solidFill>
                <a:latin typeface="Calibri" pitchFamily="34" charset="0"/>
                <a:ea typeface="Calibri" pitchFamily="34" charset="-122"/>
                <a:cs typeface="Calibri" pitchFamily="34" charset="-120"/>
              </a:rPr>
              <a:t>04  ·  COLLABORATION</a:t>
            </a:r>
            <a:endParaRPr lang="en-US" sz="1000" dirty="0"/>
          </a:p>
        </p:txBody>
      </p:sp>
      <p:sp>
        <p:nvSpPr>
          <p:cNvPr id="3" name="Text 1"/>
          <p:cNvSpPr/>
          <p:nvPr/>
        </p:nvSpPr>
        <p:spPr>
          <a:xfrm>
            <a:off x="548640" y="640080"/>
            <a:ext cx="8229600" cy="548640"/>
          </a:xfrm>
          <a:prstGeom prst="rect">
            <a:avLst/>
          </a:prstGeom>
          <a:noFill/>
          <a:ln/>
        </p:spPr>
        <p:txBody>
          <a:bodyPr wrap="square" lIns="0" tIns="0" rIns="0" bIns="0" rtlCol="0" anchor="ctr"/>
          <a:lstStyle/>
          <a:p>
            <a:pPr marL="0" indent="0">
              <a:buNone/>
            </a:pPr>
            <a:r>
              <a:rPr lang="en-US" sz="3000" dirty="0">
                <a:solidFill>
                  <a:srgbClr val="232F3E"/>
                </a:solidFill>
                <a:latin typeface="Calibri" pitchFamily="34" charset="0"/>
                <a:ea typeface="Calibri" pitchFamily="34" charset="-122"/>
                <a:cs typeface="Calibri" pitchFamily="34" charset="-120"/>
              </a:rPr>
              <a:t>What We Need From You</a:t>
            </a:r>
            <a:endParaRPr lang="en-US" sz="3000" dirty="0"/>
          </a:p>
        </p:txBody>
      </p:sp>
      <p:sp>
        <p:nvSpPr>
          <p:cNvPr id="4" name="Text 2"/>
          <p:cNvSpPr/>
          <p:nvPr/>
        </p:nvSpPr>
        <p:spPr>
          <a:xfrm>
            <a:off x="548640" y="1371600"/>
            <a:ext cx="4572000" cy="1828800"/>
          </a:xfrm>
          <a:prstGeom prst="rect">
            <a:avLst/>
          </a:prstGeom>
          <a:noFill/>
          <a:ln/>
        </p:spPr>
        <p:txBody>
          <a:bodyPr wrap="square" lIns="0" tIns="0" rIns="0" bIns="0" rtlCol="0" anchor="t"/>
          <a:lstStyle/>
          <a:p>
            <a:pPr marL="0" indent="0">
              <a:lnSpc>
                <a:spcPts val="1800"/>
              </a:lnSpc>
              <a:buNone/>
            </a:pPr>
            <a:r>
              <a:rPr lang="en-US" sz="1200" dirty="0">
                <a:solidFill>
                  <a:srgbClr val="444444"/>
                </a:solidFill>
                <a:latin typeface="Calibri" pitchFamily="34" charset="0"/>
                <a:ea typeface="Calibri" pitchFamily="34" charset="-122"/>
                <a:cs typeface="Calibri" pitchFamily="34" charset="-120"/>
              </a:rPr>
              <a:t>BVIF is collaborative. You bring the business knowledge and initiative ideas; we bring the methodology and guided execution.</a:t>
            </a:r>
            <a:endParaRPr lang="en-US" sz="1200" dirty="0"/>
          </a:p>
          <a:p>
            <a:pPr marL="0" indent="0">
              <a:lnSpc>
                <a:spcPts val="1800"/>
              </a:lnSpc>
              <a:buNone/>
            </a:pPr>
            <a:endParaRPr lang="en-US" sz="1200" dirty="0"/>
          </a:p>
          <a:p>
            <a:pPr marL="0" indent="0">
              <a:lnSpc>
                <a:spcPts val="1800"/>
              </a:lnSpc>
              <a:buNone/>
            </a:pPr>
            <a:r>
              <a:rPr lang="en-US" sz="1200" dirty="0">
                <a:solidFill>
                  <a:srgbClr val="444444"/>
                </a:solidFill>
                <a:latin typeface="Calibri" pitchFamily="34" charset="0"/>
                <a:ea typeface="Calibri" pitchFamily="34" charset="-122"/>
                <a:cs typeface="Calibri" pitchFamily="34" charset="-120"/>
              </a:rPr>
              <a:t>The process involves answering questions about your operations, providing data points, and approving intermediate outputs at each stage.</a:t>
            </a:r>
            <a:endParaRPr lang="en-US" sz="1200" dirty="0"/>
          </a:p>
        </p:txBody>
      </p:sp>
      <p:sp>
        <p:nvSpPr>
          <p:cNvPr id="5" name="Text 3"/>
          <p:cNvSpPr/>
          <p:nvPr/>
        </p:nvSpPr>
        <p:spPr>
          <a:xfrm>
            <a:off x="548640" y="3108960"/>
            <a:ext cx="274320" cy="320040"/>
          </a:xfrm>
          <a:prstGeom prst="rect">
            <a:avLst/>
          </a:prstGeom>
          <a:noFill/>
          <a:ln/>
        </p:spPr>
        <p:txBody>
          <a:bodyPr wrap="square" lIns="0" tIns="0" rIns="0" bIns="0" rtlCol="0" anchor="ctr"/>
          <a:lstStyle/>
          <a:p>
            <a:pPr marL="0" indent="0">
              <a:buNone/>
            </a:pPr>
            <a:r>
              <a:rPr lang="en-US" sz="1200" dirty="0">
                <a:solidFill>
                  <a:srgbClr val="146EB4"/>
                </a:solidFill>
              </a:rPr>
              <a:t>✓</a:t>
            </a:r>
            <a:endParaRPr lang="en-US" sz="1200" dirty="0"/>
          </a:p>
        </p:txBody>
      </p:sp>
      <p:sp>
        <p:nvSpPr>
          <p:cNvPr id="6" name="Text 4"/>
          <p:cNvSpPr/>
          <p:nvPr/>
        </p:nvSpPr>
        <p:spPr>
          <a:xfrm>
            <a:off x="868680" y="3108960"/>
            <a:ext cx="4572000" cy="320040"/>
          </a:xfrm>
          <a:prstGeom prst="rect">
            <a:avLst/>
          </a:prstGeom>
          <a:noFill/>
          <a:ln/>
        </p:spPr>
        <p:txBody>
          <a:bodyPr wrap="square" lIns="0" tIns="0" rIns="0" bIns="0" rtlCol="0" anchor="ctr"/>
          <a:lstStyle/>
          <a:p>
            <a:pPr marL="0" indent="0">
              <a:buNone/>
            </a:pPr>
            <a:r>
              <a:rPr lang="en-US" sz="1100" dirty="0">
                <a:solidFill>
                  <a:srgbClr val="444444"/>
                </a:solidFill>
                <a:latin typeface="Calibri" pitchFamily="34" charset="0"/>
                <a:ea typeface="Calibri" pitchFamily="34" charset="-122"/>
                <a:cs typeface="Calibri" pitchFamily="34" charset="-120"/>
              </a:rPr>
              <a:t>A plain-language description of 1–2 AI initiatives to evaluate</a:t>
            </a:r>
            <a:endParaRPr lang="en-US" sz="1100" dirty="0"/>
          </a:p>
        </p:txBody>
      </p:sp>
      <p:sp>
        <p:nvSpPr>
          <p:cNvPr id="7" name="Text 5"/>
          <p:cNvSpPr/>
          <p:nvPr/>
        </p:nvSpPr>
        <p:spPr>
          <a:xfrm>
            <a:off x="548640" y="3456432"/>
            <a:ext cx="274320" cy="320040"/>
          </a:xfrm>
          <a:prstGeom prst="rect">
            <a:avLst/>
          </a:prstGeom>
          <a:noFill/>
          <a:ln/>
        </p:spPr>
        <p:txBody>
          <a:bodyPr wrap="square" lIns="0" tIns="0" rIns="0" bIns="0" rtlCol="0" anchor="ctr"/>
          <a:lstStyle/>
          <a:p>
            <a:pPr marL="0" indent="0">
              <a:buNone/>
            </a:pPr>
            <a:r>
              <a:rPr lang="en-US" sz="1200" dirty="0">
                <a:solidFill>
                  <a:srgbClr val="146EB4"/>
                </a:solidFill>
              </a:rPr>
              <a:t>✓</a:t>
            </a:r>
            <a:endParaRPr lang="en-US" sz="1200" dirty="0"/>
          </a:p>
        </p:txBody>
      </p:sp>
      <p:sp>
        <p:nvSpPr>
          <p:cNvPr id="8" name="Text 6"/>
          <p:cNvSpPr/>
          <p:nvPr/>
        </p:nvSpPr>
        <p:spPr>
          <a:xfrm>
            <a:off x="868680" y="3456432"/>
            <a:ext cx="4572000" cy="320040"/>
          </a:xfrm>
          <a:prstGeom prst="rect">
            <a:avLst/>
          </a:prstGeom>
          <a:noFill/>
          <a:ln/>
        </p:spPr>
        <p:txBody>
          <a:bodyPr wrap="square" lIns="0" tIns="0" rIns="0" bIns="0" rtlCol="0" anchor="ctr"/>
          <a:lstStyle/>
          <a:p>
            <a:pPr marL="0" indent="0">
              <a:buNone/>
            </a:pPr>
            <a:r>
              <a:rPr lang="en-US" sz="1100" dirty="0">
                <a:solidFill>
                  <a:srgbClr val="444444"/>
                </a:solidFill>
                <a:latin typeface="Calibri" pitchFamily="34" charset="0"/>
                <a:ea typeface="Calibri" pitchFamily="34" charset="-122"/>
                <a:cs typeface="Calibri" pitchFamily="34" charset="-120"/>
              </a:rPr>
              <a:t>Stakeholder participation (people who understand the processes)</a:t>
            </a:r>
            <a:endParaRPr lang="en-US" sz="1100" dirty="0"/>
          </a:p>
        </p:txBody>
      </p:sp>
      <p:sp>
        <p:nvSpPr>
          <p:cNvPr id="9" name="Text 7"/>
          <p:cNvSpPr/>
          <p:nvPr/>
        </p:nvSpPr>
        <p:spPr>
          <a:xfrm>
            <a:off x="548640" y="3803904"/>
            <a:ext cx="274320" cy="320040"/>
          </a:xfrm>
          <a:prstGeom prst="rect">
            <a:avLst/>
          </a:prstGeom>
          <a:noFill/>
          <a:ln/>
        </p:spPr>
        <p:txBody>
          <a:bodyPr wrap="square" lIns="0" tIns="0" rIns="0" bIns="0" rtlCol="0" anchor="ctr"/>
          <a:lstStyle/>
          <a:p>
            <a:pPr marL="0" indent="0">
              <a:buNone/>
            </a:pPr>
            <a:r>
              <a:rPr lang="en-US" sz="1200" dirty="0">
                <a:solidFill>
                  <a:srgbClr val="146EB4"/>
                </a:solidFill>
              </a:rPr>
              <a:t>✓</a:t>
            </a:r>
            <a:endParaRPr lang="en-US" sz="1200" dirty="0"/>
          </a:p>
        </p:txBody>
      </p:sp>
      <p:sp>
        <p:nvSpPr>
          <p:cNvPr id="10" name="Text 8"/>
          <p:cNvSpPr/>
          <p:nvPr/>
        </p:nvSpPr>
        <p:spPr>
          <a:xfrm>
            <a:off x="868680" y="3803904"/>
            <a:ext cx="4572000" cy="320040"/>
          </a:xfrm>
          <a:prstGeom prst="rect">
            <a:avLst/>
          </a:prstGeom>
          <a:noFill/>
          <a:ln/>
        </p:spPr>
        <p:txBody>
          <a:bodyPr wrap="square" lIns="0" tIns="0" rIns="0" bIns="0" rtlCol="0" anchor="ctr"/>
          <a:lstStyle/>
          <a:p>
            <a:pPr marL="0" indent="0">
              <a:buNone/>
            </a:pPr>
            <a:r>
              <a:rPr lang="en-US" sz="1100" dirty="0">
                <a:solidFill>
                  <a:srgbClr val="444444"/>
                </a:solidFill>
                <a:latin typeface="Calibri" pitchFamily="34" charset="0"/>
                <a:ea typeface="Calibri" pitchFamily="34" charset="-122"/>
                <a:cs typeface="Calibri" pitchFamily="34" charset="-120"/>
              </a:rPr>
              <a:t>Access to operational data &amp; metrics (performance baselines)</a:t>
            </a:r>
            <a:endParaRPr lang="en-US" sz="1100" dirty="0"/>
          </a:p>
        </p:txBody>
      </p:sp>
      <p:sp>
        <p:nvSpPr>
          <p:cNvPr id="11" name="Text 9"/>
          <p:cNvSpPr/>
          <p:nvPr/>
        </p:nvSpPr>
        <p:spPr>
          <a:xfrm>
            <a:off x="548640" y="4151376"/>
            <a:ext cx="274320" cy="320040"/>
          </a:xfrm>
          <a:prstGeom prst="rect">
            <a:avLst/>
          </a:prstGeom>
          <a:noFill/>
          <a:ln/>
        </p:spPr>
        <p:txBody>
          <a:bodyPr wrap="square" lIns="0" tIns="0" rIns="0" bIns="0" rtlCol="0" anchor="ctr"/>
          <a:lstStyle/>
          <a:p>
            <a:pPr marL="0" indent="0">
              <a:buNone/>
            </a:pPr>
            <a:r>
              <a:rPr lang="en-US" sz="1200" dirty="0">
                <a:solidFill>
                  <a:srgbClr val="146EB4"/>
                </a:solidFill>
              </a:rPr>
              <a:t>✓</a:t>
            </a:r>
            <a:endParaRPr lang="en-US" sz="1200" dirty="0"/>
          </a:p>
        </p:txBody>
      </p:sp>
      <p:sp>
        <p:nvSpPr>
          <p:cNvPr id="12" name="Text 10"/>
          <p:cNvSpPr/>
          <p:nvPr/>
        </p:nvSpPr>
        <p:spPr>
          <a:xfrm>
            <a:off x="868680" y="4151376"/>
            <a:ext cx="4572000" cy="320040"/>
          </a:xfrm>
          <a:prstGeom prst="rect">
            <a:avLst/>
          </a:prstGeom>
          <a:noFill/>
          <a:ln/>
        </p:spPr>
        <p:txBody>
          <a:bodyPr wrap="square" lIns="0" tIns="0" rIns="0" bIns="0" rtlCol="0" anchor="ctr"/>
          <a:lstStyle/>
          <a:p>
            <a:pPr marL="0" indent="0">
              <a:buNone/>
            </a:pPr>
            <a:r>
              <a:rPr lang="en-US" sz="1100" dirty="0">
                <a:solidFill>
                  <a:srgbClr val="444444"/>
                </a:solidFill>
                <a:latin typeface="Calibri" pitchFamily="34" charset="0"/>
                <a:ea typeface="Calibri" pitchFamily="34" charset="-122"/>
                <a:cs typeface="Calibri" pitchFamily="34" charset="-120"/>
              </a:rPr>
              <a:t>Willingness to validate assumptions and provide feedback</a:t>
            </a:r>
            <a:endParaRPr lang="en-US" sz="1100" dirty="0"/>
          </a:p>
        </p:txBody>
      </p:sp>
      <p:sp>
        <p:nvSpPr>
          <p:cNvPr id="13" name="Shape 11"/>
          <p:cNvSpPr/>
          <p:nvPr/>
        </p:nvSpPr>
        <p:spPr>
          <a:xfrm>
            <a:off x="5669280" y="1645920"/>
            <a:ext cx="2926080" cy="2560320"/>
          </a:xfrm>
          <a:prstGeom prst="roundRect">
            <a:avLst>
              <a:gd name="adj" fmla="val 3571"/>
            </a:avLst>
          </a:prstGeom>
          <a:solidFill>
            <a:srgbClr val="232F3E"/>
          </a:solidFill>
          <a:ln/>
        </p:spPr>
        <p:txBody>
          <a:bodyPr/>
          <a:lstStyle/>
          <a:p>
            <a:endParaRPr lang="en-US"/>
          </a:p>
        </p:txBody>
      </p:sp>
      <p:sp>
        <p:nvSpPr>
          <p:cNvPr id="14" name="Text 12"/>
          <p:cNvSpPr/>
          <p:nvPr/>
        </p:nvSpPr>
        <p:spPr>
          <a:xfrm>
            <a:off x="5852160" y="1828800"/>
            <a:ext cx="2560320" cy="548640"/>
          </a:xfrm>
          <a:prstGeom prst="rect">
            <a:avLst/>
          </a:prstGeom>
          <a:noFill/>
          <a:ln/>
        </p:spPr>
        <p:txBody>
          <a:bodyPr wrap="square" lIns="0" tIns="0" rIns="0" bIns="0" rtlCol="0" anchor="ctr"/>
          <a:lstStyle/>
          <a:p>
            <a:pPr marL="0" indent="0" algn="ctr">
              <a:buNone/>
            </a:pPr>
            <a:r>
              <a:rPr lang="en-US" sz="1000" kern="0" spc="200" dirty="0">
                <a:solidFill>
                  <a:srgbClr val="8899A6"/>
                </a:solidFill>
                <a:latin typeface="Calibri" pitchFamily="34" charset="0"/>
                <a:ea typeface="Calibri" pitchFamily="34" charset="-122"/>
                <a:cs typeface="Calibri" pitchFamily="34" charset="-120"/>
              </a:rPr>
              <a:t>TIME</a:t>
            </a:r>
            <a:endParaRPr lang="en-US" sz="1000" dirty="0"/>
          </a:p>
          <a:p>
            <a:pPr marL="0" indent="0" algn="ctr">
              <a:buNone/>
            </a:pPr>
            <a:r>
              <a:rPr lang="en-US" sz="1000" kern="0" spc="200" dirty="0">
                <a:solidFill>
                  <a:srgbClr val="8899A6"/>
                </a:solidFill>
                <a:latin typeface="Calibri" pitchFamily="34" charset="0"/>
                <a:ea typeface="Calibri" pitchFamily="34" charset="-122"/>
                <a:cs typeface="Calibri" pitchFamily="34" charset="-120"/>
              </a:rPr>
              <a:t>COMMITMENT</a:t>
            </a:r>
            <a:endParaRPr lang="en-US" sz="1000" dirty="0"/>
          </a:p>
        </p:txBody>
      </p:sp>
      <p:sp>
        <p:nvSpPr>
          <p:cNvPr id="15" name="Text 13"/>
          <p:cNvSpPr/>
          <p:nvPr/>
        </p:nvSpPr>
        <p:spPr>
          <a:xfrm>
            <a:off x="5852160" y="2468880"/>
            <a:ext cx="2560320" cy="548640"/>
          </a:xfrm>
          <a:prstGeom prst="rect">
            <a:avLst/>
          </a:prstGeom>
          <a:noFill/>
          <a:ln/>
        </p:spPr>
        <p:txBody>
          <a:bodyPr wrap="square" lIns="0" tIns="0" rIns="0" bIns="0" rtlCol="0" anchor="ctr"/>
          <a:lstStyle/>
          <a:p>
            <a:pPr marL="0" indent="0" algn="ctr">
              <a:buNone/>
            </a:pPr>
            <a:r>
              <a:rPr lang="en-US" sz="2800" dirty="0">
                <a:solidFill>
                  <a:srgbClr val="FF9900"/>
                </a:solidFill>
                <a:latin typeface="Calibri" pitchFamily="34" charset="0"/>
                <a:ea typeface="Calibri" pitchFamily="34" charset="-122"/>
                <a:cs typeface="Calibri" pitchFamily="34" charset="-120"/>
              </a:rPr>
              <a:t>2 sessions</a:t>
            </a:r>
            <a:endParaRPr lang="en-US" sz="2800" dirty="0"/>
          </a:p>
        </p:txBody>
      </p:sp>
      <p:sp>
        <p:nvSpPr>
          <p:cNvPr id="16" name="Text 14"/>
          <p:cNvSpPr/>
          <p:nvPr/>
        </p:nvSpPr>
        <p:spPr>
          <a:xfrm>
            <a:off x="5852160" y="2926080"/>
            <a:ext cx="2560320" cy="36576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 hours each</a:t>
            </a:r>
            <a:endParaRPr lang="en-US" sz="1400" dirty="0"/>
          </a:p>
        </p:txBody>
      </p:sp>
      <p:sp>
        <p:nvSpPr>
          <p:cNvPr id="17" name="Text 15"/>
          <p:cNvSpPr/>
          <p:nvPr/>
        </p:nvSpPr>
        <p:spPr>
          <a:xfrm>
            <a:off x="5852160" y="3246120"/>
            <a:ext cx="2560320" cy="32004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per initiative</a:t>
            </a:r>
            <a:endParaRPr lang="en-US" sz="1400" b="1" dirty="0">
              <a:solidFill>
                <a:schemeClr val="bg1"/>
              </a:solidFill>
            </a:endParaRPr>
          </a:p>
        </p:txBody>
      </p:sp>
      <p:sp>
        <p:nvSpPr>
          <p:cNvPr id="18" name="Text 16"/>
          <p:cNvSpPr/>
          <p:nvPr/>
        </p:nvSpPr>
        <p:spPr>
          <a:xfrm>
            <a:off x="5852160" y="3657600"/>
            <a:ext cx="2560320" cy="457200"/>
          </a:xfrm>
          <a:prstGeom prst="rect">
            <a:avLst/>
          </a:prstGeom>
          <a:noFill/>
          <a:ln/>
        </p:spPr>
        <p:txBody>
          <a:bodyPr wrap="square" lIns="0" tIns="0" rIns="0" bIns="0" rtlCol="0" anchor="ctr"/>
          <a:lstStyle/>
          <a:p>
            <a:pPr marL="0" indent="0" algn="ctr">
              <a:buNone/>
            </a:pPr>
            <a:r>
              <a:rPr lang="en-US" sz="1000" i="1" dirty="0">
                <a:solidFill>
                  <a:srgbClr val="8899A6"/>
                </a:solidFill>
                <a:latin typeface="Calibri" pitchFamily="34" charset="0"/>
                <a:ea typeface="Calibri" pitchFamily="34" charset="-122"/>
                <a:cs typeface="Calibri" pitchFamily="34" charset="-120"/>
              </a:rPr>
              <a:t>Focused, structured,</a:t>
            </a:r>
            <a:endParaRPr lang="en-US" sz="1000" dirty="0"/>
          </a:p>
          <a:p>
            <a:pPr marL="0" indent="0" algn="ctr">
              <a:buNone/>
            </a:pPr>
            <a:r>
              <a:rPr lang="en-US" sz="1000" i="1" dirty="0">
                <a:solidFill>
                  <a:srgbClr val="8899A6"/>
                </a:solidFill>
                <a:latin typeface="Calibri" pitchFamily="34" charset="0"/>
                <a:ea typeface="Calibri" pitchFamily="34" charset="-122"/>
                <a:cs typeface="Calibri" pitchFamily="34" charset="-120"/>
              </a:rPr>
              <a:t>and productive</a:t>
            </a:r>
            <a:endParaRPr lang="en-US" sz="1000" dirty="0"/>
          </a:p>
        </p:txBody>
      </p:sp>
      <p:sp>
        <p:nvSpPr>
          <p:cNvPr id="19" name="Text 17"/>
          <p:cNvSpPr/>
          <p:nvPr/>
        </p:nvSpPr>
        <p:spPr>
          <a:xfrm>
            <a:off x="457200" y="4846320"/>
            <a:ext cx="8229600" cy="228600"/>
          </a:xfrm>
          <a:prstGeom prst="rect">
            <a:avLst/>
          </a:prstGeom>
          <a:noFill/>
          <a:ln/>
        </p:spPr>
        <p:txBody>
          <a:bodyPr wrap="square" lIns="0" tIns="0" rIns="0" bIns="0" rtlCol="0" anchor="ctr"/>
          <a:lstStyle/>
          <a:p>
            <a:pPr marL="0" indent="0">
              <a:buNone/>
            </a:pPr>
            <a:r>
              <a:rPr lang="en-US" sz="800" dirty="0">
                <a:solidFill>
                  <a:srgbClr val="8899A6"/>
                </a:solidFill>
              </a:rPr>
              <a:t>BVIF  ·  7 / 10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320040"/>
          </a:xfrm>
          <a:prstGeom prst="rect">
            <a:avLst/>
          </a:prstGeom>
          <a:noFill/>
          <a:ln/>
        </p:spPr>
        <p:txBody>
          <a:bodyPr wrap="square" lIns="0" tIns="0" rIns="0" bIns="0" rtlCol="0" anchor="ctr"/>
          <a:lstStyle/>
          <a:p>
            <a:pPr marL="0" indent="0">
              <a:buNone/>
            </a:pPr>
            <a:r>
              <a:rPr lang="en-US" sz="1000" kern="0" spc="300" dirty="0">
                <a:solidFill>
                  <a:srgbClr val="146EB4"/>
                </a:solidFill>
                <a:latin typeface="Calibri" pitchFamily="34" charset="0"/>
                <a:ea typeface="Calibri" pitchFamily="34" charset="-122"/>
                <a:cs typeface="Calibri" pitchFamily="34" charset="-120"/>
              </a:rPr>
              <a:t>05  ·  OUTCOMES</a:t>
            </a:r>
            <a:endParaRPr lang="en-US" sz="1000" dirty="0"/>
          </a:p>
        </p:txBody>
      </p:sp>
      <p:sp>
        <p:nvSpPr>
          <p:cNvPr id="3" name="Text 1"/>
          <p:cNvSpPr/>
          <p:nvPr/>
        </p:nvSpPr>
        <p:spPr>
          <a:xfrm>
            <a:off x="548640" y="640080"/>
            <a:ext cx="8229600" cy="548640"/>
          </a:xfrm>
          <a:prstGeom prst="rect">
            <a:avLst/>
          </a:prstGeom>
          <a:noFill/>
          <a:ln/>
        </p:spPr>
        <p:txBody>
          <a:bodyPr wrap="square" lIns="0" tIns="0" rIns="0" bIns="0" rtlCol="0" anchor="ctr"/>
          <a:lstStyle/>
          <a:p>
            <a:pPr marL="0" indent="0">
              <a:buNone/>
            </a:pPr>
            <a:r>
              <a:rPr lang="en-US" sz="3000" dirty="0">
                <a:solidFill>
                  <a:srgbClr val="232F3E"/>
                </a:solidFill>
                <a:latin typeface="Calibri" pitchFamily="34" charset="0"/>
                <a:ea typeface="Calibri" pitchFamily="34" charset="-122"/>
                <a:cs typeface="Calibri" pitchFamily="34" charset="-120"/>
              </a:rPr>
              <a:t>What You Can Expect</a:t>
            </a:r>
            <a:endParaRPr lang="en-US" sz="3000" dirty="0"/>
          </a:p>
        </p:txBody>
      </p:sp>
      <p:sp>
        <p:nvSpPr>
          <p:cNvPr id="4" name="Shape 2"/>
          <p:cNvSpPr/>
          <p:nvPr/>
        </p:nvSpPr>
        <p:spPr>
          <a:xfrm>
            <a:off x="548640" y="1371600"/>
            <a:ext cx="3840480" cy="1188720"/>
          </a:xfrm>
          <a:prstGeom prst="roundRect">
            <a:avLst>
              <a:gd name="adj" fmla="val 6154"/>
            </a:avLst>
          </a:prstGeom>
          <a:solidFill>
            <a:srgbClr val="F5F7FA"/>
          </a:solidFill>
          <a:ln/>
        </p:spPr>
        <p:txBody>
          <a:bodyPr/>
          <a:lstStyle/>
          <a:p>
            <a:endParaRPr lang="en-US"/>
          </a:p>
        </p:txBody>
      </p:sp>
      <p:sp>
        <p:nvSpPr>
          <p:cNvPr id="5" name="Shape 3"/>
          <p:cNvSpPr/>
          <p:nvPr/>
        </p:nvSpPr>
        <p:spPr>
          <a:xfrm>
            <a:off x="548640" y="1371600"/>
            <a:ext cx="54864" cy="1188720"/>
          </a:xfrm>
          <a:prstGeom prst="rect">
            <a:avLst/>
          </a:prstGeom>
          <a:solidFill>
            <a:srgbClr val="146EB4"/>
          </a:solidFill>
          <a:ln/>
        </p:spPr>
        <p:txBody>
          <a:bodyPr/>
          <a:lstStyle/>
          <a:p>
            <a:endParaRPr lang="en-US"/>
          </a:p>
        </p:txBody>
      </p:sp>
      <p:sp>
        <p:nvSpPr>
          <p:cNvPr id="6" name="Text 4"/>
          <p:cNvSpPr/>
          <p:nvPr/>
        </p:nvSpPr>
        <p:spPr>
          <a:xfrm>
            <a:off x="777240" y="1508760"/>
            <a:ext cx="3474720" cy="365760"/>
          </a:xfrm>
          <a:prstGeom prst="rect">
            <a:avLst/>
          </a:prstGeom>
          <a:noFill/>
          <a:ln/>
        </p:spPr>
        <p:txBody>
          <a:bodyPr wrap="square" lIns="0" tIns="0" rIns="0" bIns="0" rtlCol="0" anchor="ctr"/>
          <a:lstStyle/>
          <a:p>
            <a:pPr marL="0" indent="0">
              <a:buNone/>
            </a:pPr>
            <a:r>
              <a:rPr lang="en-US" sz="1300" dirty="0">
                <a:solidFill>
                  <a:srgbClr val="232F3E"/>
                </a:solidFill>
                <a:latin typeface="Calibri" pitchFamily="34" charset="0"/>
                <a:ea typeface="Calibri" pitchFamily="34" charset="-122"/>
                <a:cs typeface="Calibri" pitchFamily="34" charset="-120"/>
              </a:rPr>
              <a:t>Annualized Business Value</a:t>
            </a:r>
            <a:endParaRPr lang="en-US" sz="1300" dirty="0"/>
          </a:p>
        </p:txBody>
      </p:sp>
      <p:sp>
        <p:nvSpPr>
          <p:cNvPr id="7" name="Text 5"/>
          <p:cNvSpPr/>
          <p:nvPr/>
        </p:nvSpPr>
        <p:spPr>
          <a:xfrm>
            <a:off x="777240" y="1920240"/>
            <a:ext cx="3474720" cy="5029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A structured, evidence-based estimate for each initiative</a:t>
            </a:r>
            <a:endParaRPr lang="en-US" sz="1100" dirty="0"/>
          </a:p>
        </p:txBody>
      </p:sp>
      <p:sp>
        <p:nvSpPr>
          <p:cNvPr id="8" name="Shape 6"/>
          <p:cNvSpPr/>
          <p:nvPr/>
        </p:nvSpPr>
        <p:spPr>
          <a:xfrm>
            <a:off x="4754880" y="1371600"/>
            <a:ext cx="3840480" cy="1188720"/>
          </a:xfrm>
          <a:prstGeom prst="roundRect">
            <a:avLst>
              <a:gd name="adj" fmla="val 6154"/>
            </a:avLst>
          </a:prstGeom>
          <a:solidFill>
            <a:srgbClr val="F5F7FA"/>
          </a:solidFill>
          <a:ln/>
        </p:spPr>
        <p:txBody>
          <a:bodyPr/>
          <a:lstStyle/>
          <a:p>
            <a:endParaRPr lang="en-US"/>
          </a:p>
        </p:txBody>
      </p:sp>
      <p:sp>
        <p:nvSpPr>
          <p:cNvPr id="9" name="Shape 7"/>
          <p:cNvSpPr/>
          <p:nvPr/>
        </p:nvSpPr>
        <p:spPr>
          <a:xfrm>
            <a:off x="4754880" y="1371600"/>
            <a:ext cx="54864" cy="1188720"/>
          </a:xfrm>
          <a:prstGeom prst="rect">
            <a:avLst/>
          </a:prstGeom>
          <a:solidFill>
            <a:srgbClr val="146EB4"/>
          </a:solidFill>
          <a:ln/>
        </p:spPr>
        <p:txBody>
          <a:bodyPr/>
          <a:lstStyle/>
          <a:p>
            <a:endParaRPr lang="en-US"/>
          </a:p>
        </p:txBody>
      </p:sp>
      <p:sp>
        <p:nvSpPr>
          <p:cNvPr id="10" name="Text 8"/>
          <p:cNvSpPr/>
          <p:nvPr/>
        </p:nvSpPr>
        <p:spPr>
          <a:xfrm>
            <a:off x="4983480" y="1508760"/>
            <a:ext cx="3474720" cy="365760"/>
          </a:xfrm>
          <a:prstGeom prst="rect">
            <a:avLst/>
          </a:prstGeom>
          <a:noFill/>
          <a:ln/>
        </p:spPr>
        <p:txBody>
          <a:bodyPr wrap="square" lIns="0" tIns="0" rIns="0" bIns="0" rtlCol="0" anchor="ctr"/>
          <a:lstStyle/>
          <a:p>
            <a:pPr marL="0" indent="0">
              <a:buNone/>
            </a:pPr>
            <a:r>
              <a:rPr lang="en-US" sz="1300" dirty="0">
                <a:solidFill>
                  <a:srgbClr val="232F3E"/>
                </a:solidFill>
                <a:latin typeface="Calibri" pitchFamily="34" charset="0"/>
                <a:ea typeface="Calibri" pitchFamily="34" charset="-122"/>
                <a:cs typeface="Calibri" pitchFamily="34" charset="-120"/>
              </a:rPr>
              <a:t>Metrics Clarity</a:t>
            </a:r>
            <a:endParaRPr lang="en-US" sz="1300" dirty="0"/>
          </a:p>
        </p:txBody>
      </p:sp>
      <p:sp>
        <p:nvSpPr>
          <p:cNvPr id="11" name="Text 9"/>
          <p:cNvSpPr/>
          <p:nvPr/>
        </p:nvSpPr>
        <p:spPr>
          <a:xfrm>
            <a:off x="4983480" y="1920240"/>
            <a:ext cx="3474720" cy="5029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Which metrics drive value and how feasibly they can be measured</a:t>
            </a:r>
            <a:endParaRPr lang="en-US" sz="1100" dirty="0"/>
          </a:p>
        </p:txBody>
      </p:sp>
      <p:sp>
        <p:nvSpPr>
          <p:cNvPr id="12" name="Shape 10"/>
          <p:cNvSpPr/>
          <p:nvPr/>
        </p:nvSpPr>
        <p:spPr>
          <a:xfrm>
            <a:off x="2714719" y="2834640"/>
            <a:ext cx="3840480" cy="1188720"/>
          </a:xfrm>
          <a:prstGeom prst="roundRect">
            <a:avLst>
              <a:gd name="adj" fmla="val 6154"/>
            </a:avLst>
          </a:prstGeom>
          <a:solidFill>
            <a:srgbClr val="F5F7FA"/>
          </a:solidFill>
          <a:ln/>
        </p:spPr>
        <p:txBody>
          <a:bodyPr/>
          <a:lstStyle/>
          <a:p>
            <a:endParaRPr lang="en-US"/>
          </a:p>
        </p:txBody>
      </p:sp>
      <p:sp>
        <p:nvSpPr>
          <p:cNvPr id="13" name="Shape 11"/>
          <p:cNvSpPr/>
          <p:nvPr/>
        </p:nvSpPr>
        <p:spPr>
          <a:xfrm>
            <a:off x="2714719" y="2834640"/>
            <a:ext cx="54864" cy="1188720"/>
          </a:xfrm>
          <a:prstGeom prst="rect">
            <a:avLst/>
          </a:prstGeom>
          <a:solidFill>
            <a:srgbClr val="146EB4"/>
          </a:solidFill>
          <a:ln/>
        </p:spPr>
        <p:txBody>
          <a:bodyPr/>
          <a:lstStyle/>
          <a:p>
            <a:endParaRPr lang="en-US"/>
          </a:p>
        </p:txBody>
      </p:sp>
      <p:sp>
        <p:nvSpPr>
          <p:cNvPr id="14" name="Text 12"/>
          <p:cNvSpPr/>
          <p:nvPr/>
        </p:nvSpPr>
        <p:spPr>
          <a:xfrm>
            <a:off x="2943319" y="2971800"/>
            <a:ext cx="3474720" cy="365760"/>
          </a:xfrm>
          <a:prstGeom prst="rect">
            <a:avLst/>
          </a:prstGeom>
          <a:noFill/>
          <a:ln/>
        </p:spPr>
        <p:txBody>
          <a:bodyPr wrap="square" lIns="0" tIns="0" rIns="0" bIns="0" rtlCol="0" anchor="ctr"/>
          <a:lstStyle/>
          <a:p>
            <a:pPr marL="0" indent="0">
              <a:buNone/>
            </a:pPr>
            <a:r>
              <a:rPr lang="en-US" sz="1300" dirty="0">
                <a:solidFill>
                  <a:srgbClr val="232F3E"/>
                </a:solidFill>
                <a:latin typeface="Calibri" pitchFamily="34" charset="0"/>
                <a:ea typeface="Calibri" pitchFamily="34" charset="-122"/>
                <a:cs typeface="Calibri" pitchFamily="34" charset="-120"/>
              </a:rPr>
              <a:t>Full Audit Trail</a:t>
            </a:r>
            <a:endParaRPr lang="en-US" sz="1300" dirty="0"/>
          </a:p>
        </p:txBody>
      </p:sp>
      <p:sp>
        <p:nvSpPr>
          <p:cNvPr id="15" name="Text 13"/>
          <p:cNvSpPr/>
          <p:nvPr/>
        </p:nvSpPr>
        <p:spPr>
          <a:xfrm>
            <a:off x="2943319" y="3383280"/>
            <a:ext cx="3474720" cy="5029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Every assumption, data point, and calculation documented</a:t>
            </a:r>
            <a:endParaRPr lang="en-US" sz="1100" dirty="0"/>
          </a:p>
        </p:txBody>
      </p:sp>
      <p:sp>
        <p:nvSpPr>
          <p:cNvPr id="20" name="Text 18"/>
          <p:cNvSpPr/>
          <p:nvPr/>
        </p:nvSpPr>
        <p:spPr>
          <a:xfrm>
            <a:off x="1740807" y="4297680"/>
            <a:ext cx="5662385" cy="457200"/>
          </a:xfrm>
          <a:prstGeom prst="rect">
            <a:avLst/>
          </a:prstGeom>
          <a:noFill/>
          <a:ln/>
        </p:spPr>
        <p:txBody>
          <a:bodyPr wrap="square" lIns="0" tIns="0" rIns="0" bIns="0" rtlCol="0" anchor="ctr"/>
          <a:lstStyle/>
          <a:p>
            <a:pPr marL="0" indent="0">
              <a:buNone/>
            </a:pPr>
            <a:r>
              <a:rPr lang="en-US" sz="1000" i="1" dirty="0">
                <a:solidFill>
                  <a:srgbClr val="8899A6"/>
                </a:solidFill>
                <a:latin typeface="Calibri" pitchFamily="34" charset="0"/>
                <a:ea typeface="Calibri" pitchFamily="34" charset="-122"/>
                <a:cs typeface="Calibri" pitchFamily="34" charset="-120"/>
              </a:rPr>
              <a:t>This is a lightweight validation — a grounded sense of value to inform prioritization, not a full financial model. </a:t>
            </a:r>
            <a:endParaRPr lang="en-US" sz="1000" dirty="0"/>
          </a:p>
        </p:txBody>
      </p:sp>
      <p:sp>
        <p:nvSpPr>
          <p:cNvPr id="21" name="Text 19"/>
          <p:cNvSpPr/>
          <p:nvPr/>
        </p:nvSpPr>
        <p:spPr>
          <a:xfrm>
            <a:off x="457200" y="4846320"/>
            <a:ext cx="8229600" cy="228600"/>
          </a:xfrm>
          <a:prstGeom prst="rect">
            <a:avLst/>
          </a:prstGeom>
          <a:noFill/>
          <a:ln/>
        </p:spPr>
        <p:txBody>
          <a:bodyPr wrap="square" lIns="0" tIns="0" rIns="0" bIns="0" rtlCol="0" anchor="ctr"/>
          <a:lstStyle/>
          <a:p>
            <a:pPr marL="0" indent="0">
              <a:buNone/>
            </a:pPr>
            <a:r>
              <a:rPr lang="en-US" sz="800" dirty="0">
                <a:solidFill>
                  <a:srgbClr val="8899A6"/>
                </a:solidFill>
              </a:rPr>
              <a:t>BVIF  ·  8 / 10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32F3E"/>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FF9900"/>
          </a:solidFill>
          <a:ln/>
        </p:spPr>
        <p:txBody>
          <a:bodyPr/>
          <a:lstStyle/>
          <a:p>
            <a:endParaRPr lang="en-US"/>
          </a:p>
        </p:txBody>
      </p:sp>
      <p:sp>
        <p:nvSpPr>
          <p:cNvPr id="3" name="Text 1"/>
          <p:cNvSpPr/>
          <p:nvPr/>
        </p:nvSpPr>
        <p:spPr>
          <a:xfrm>
            <a:off x="731520" y="457200"/>
            <a:ext cx="1371600" cy="1371600"/>
          </a:xfrm>
          <a:prstGeom prst="rect">
            <a:avLst/>
          </a:prstGeom>
          <a:noFill/>
          <a:ln/>
        </p:spPr>
        <p:txBody>
          <a:bodyPr wrap="square" lIns="0" tIns="0" rIns="0" bIns="0" rtlCol="0" anchor="ctr"/>
          <a:lstStyle/>
          <a:p>
            <a:pPr marL="0" indent="0">
              <a:buNone/>
            </a:pPr>
            <a:r>
              <a:rPr lang="en-US" sz="12000" dirty="0">
                <a:solidFill>
                  <a:srgbClr val="FF9900"/>
                </a:solidFill>
                <a:latin typeface="Georgia" pitchFamily="34" charset="0"/>
                <a:ea typeface="Georgia" pitchFamily="34" charset="-122"/>
                <a:cs typeface="Georgia" pitchFamily="34" charset="-120"/>
              </a:rPr>
              <a:t>“</a:t>
            </a:r>
            <a:endParaRPr lang="en-US" sz="12000" dirty="0"/>
          </a:p>
        </p:txBody>
      </p:sp>
      <p:sp>
        <p:nvSpPr>
          <p:cNvPr id="4" name="Text 2"/>
          <p:cNvSpPr/>
          <p:nvPr/>
        </p:nvSpPr>
        <p:spPr>
          <a:xfrm>
            <a:off x="731520" y="1463040"/>
            <a:ext cx="7315200" cy="1097280"/>
          </a:xfrm>
          <a:prstGeom prst="rect">
            <a:avLst/>
          </a:prstGeom>
          <a:noFill/>
          <a:ln/>
        </p:spPr>
        <p:txBody>
          <a:bodyPr wrap="square" lIns="0" tIns="0" rIns="0" bIns="0" rtlCol="0" anchor="ctr"/>
          <a:lstStyle/>
          <a:p>
            <a:pPr marL="0" indent="0">
              <a:buNone/>
            </a:pPr>
            <a:r>
              <a:rPr lang="en-US" sz="3000" dirty="0">
                <a:solidFill>
                  <a:srgbClr val="FFFFFF"/>
                </a:solidFill>
                <a:latin typeface="Calibri" pitchFamily="34" charset="0"/>
                <a:ea typeface="Calibri" pitchFamily="34" charset="-122"/>
                <a:cs typeface="Calibri" pitchFamily="34" charset="-120"/>
              </a:rPr>
              <a:t>We're in Beta —</a:t>
            </a:r>
            <a:endParaRPr lang="en-US" sz="3000" dirty="0"/>
          </a:p>
          <a:p>
            <a:pPr marL="0" indent="0">
              <a:buNone/>
            </a:pPr>
            <a:r>
              <a:rPr lang="en-US" sz="3000" dirty="0">
                <a:solidFill>
                  <a:srgbClr val="FFFFFF"/>
                </a:solidFill>
                <a:latin typeface="Calibri" pitchFamily="34" charset="0"/>
                <a:ea typeface="Calibri" pitchFamily="34" charset="-122"/>
                <a:cs typeface="Calibri" pitchFamily="34" charset="-120"/>
              </a:rPr>
              <a:t>Your Feedback Matters</a:t>
            </a:r>
            <a:endParaRPr lang="en-US" sz="3000" dirty="0"/>
          </a:p>
        </p:txBody>
      </p:sp>
      <p:sp>
        <p:nvSpPr>
          <p:cNvPr id="5" name="Text 3"/>
          <p:cNvSpPr/>
          <p:nvPr/>
        </p:nvSpPr>
        <p:spPr>
          <a:xfrm>
            <a:off x="731520" y="2743200"/>
            <a:ext cx="7315200" cy="1828800"/>
          </a:xfrm>
          <a:prstGeom prst="rect">
            <a:avLst/>
          </a:prstGeom>
          <a:noFill/>
          <a:ln/>
        </p:spPr>
        <p:txBody>
          <a:bodyPr wrap="square" lIns="0" tIns="0" rIns="0" bIns="0" rtlCol="0" anchor="ctr"/>
          <a:lstStyle/>
          <a:p>
            <a:pPr marL="0" indent="0">
              <a:lnSpc>
                <a:spcPts val="1600"/>
              </a:lnSpc>
              <a:buNone/>
            </a:pPr>
            <a:r>
              <a:rPr lang="en-US" sz="1200" dirty="0">
                <a:solidFill>
                  <a:srgbClr val="CCCCCC"/>
                </a:solidFill>
                <a:latin typeface="Calibri" pitchFamily="34" charset="0"/>
                <a:ea typeface="Calibri" pitchFamily="34" charset="-122"/>
                <a:cs typeface="Calibri" pitchFamily="34" charset="-120"/>
              </a:rPr>
              <a:t>BVIF is in active development — you are among the first customers to experience it</a:t>
            </a:r>
            <a:endParaRPr lang="en-US" sz="1200" dirty="0"/>
          </a:p>
          <a:p>
            <a:pPr marL="0" indent="0">
              <a:lnSpc>
                <a:spcPts val="1600"/>
              </a:lnSpc>
              <a:buNone/>
            </a:pPr>
            <a:r>
              <a:rPr lang="en-US" sz="600" dirty="0">
                <a:solidFill>
                  <a:srgbClr val="CCCCCC"/>
                </a:solidFill>
                <a:latin typeface="Calibri" pitchFamily="34" charset="0"/>
                <a:ea typeface="Calibri" pitchFamily="34" charset="-122"/>
                <a:cs typeface="Calibri" pitchFamily="34" charset="-120"/>
              </a:rPr>
              <a:t>
</a:t>
            </a:r>
            <a:endParaRPr lang="en-US" sz="1200" dirty="0"/>
          </a:p>
          <a:p>
            <a:pPr marL="0" indent="0">
              <a:lnSpc>
                <a:spcPts val="1600"/>
              </a:lnSpc>
              <a:buNone/>
            </a:pPr>
            <a:r>
              <a:rPr lang="en-US" sz="1200" dirty="0">
                <a:solidFill>
                  <a:srgbClr val="CCCCCC"/>
                </a:solidFill>
                <a:latin typeface="Calibri" pitchFamily="34" charset="0"/>
                <a:ea typeface="Calibri" pitchFamily="34" charset="-122"/>
                <a:cs typeface="Calibri" pitchFamily="34" charset="-120"/>
              </a:rPr>
              <a:t>Your feedback directly shapes how the framework evolves</a:t>
            </a:r>
            <a:endParaRPr lang="en-US" sz="1200" dirty="0"/>
          </a:p>
          <a:p>
            <a:pPr marL="0" indent="0">
              <a:lnSpc>
                <a:spcPts val="1600"/>
              </a:lnSpc>
              <a:buNone/>
            </a:pPr>
            <a:r>
              <a:rPr lang="en-US" sz="600" dirty="0">
                <a:solidFill>
                  <a:srgbClr val="CCCCCC"/>
                </a:solidFill>
                <a:latin typeface="Calibri" pitchFamily="34" charset="0"/>
                <a:ea typeface="Calibri" pitchFamily="34" charset="-122"/>
                <a:cs typeface="Calibri" pitchFamily="34" charset="-120"/>
              </a:rPr>
              <a:t>
</a:t>
            </a:r>
            <a:endParaRPr lang="en-US" sz="1200" dirty="0"/>
          </a:p>
          <a:p>
            <a:pPr marL="0" indent="0">
              <a:lnSpc>
                <a:spcPts val="1600"/>
              </a:lnSpc>
              <a:buNone/>
            </a:pPr>
            <a:r>
              <a:rPr lang="en-US" sz="1200" dirty="0">
                <a:solidFill>
                  <a:srgbClr val="CCCCCC"/>
                </a:solidFill>
                <a:latin typeface="Calibri" pitchFamily="34" charset="0"/>
                <a:ea typeface="Calibri" pitchFamily="34" charset="-122"/>
                <a:cs typeface="Calibri" pitchFamily="34" charset="-120"/>
              </a:rPr>
              <a:t>We want to know: What works? What's missing? What could be better?</a:t>
            </a:r>
            <a:endParaRPr lang="en-US" sz="1200" dirty="0"/>
          </a:p>
          <a:p>
            <a:pPr marL="0" indent="0">
              <a:lnSpc>
                <a:spcPts val="1600"/>
              </a:lnSpc>
              <a:buNone/>
            </a:pPr>
            <a:r>
              <a:rPr lang="en-US" sz="600" dirty="0">
                <a:solidFill>
                  <a:srgbClr val="CCCCCC"/>
                </a:solidFill>
                <a:latin typeface="Calibri" pitchFamily="34" charset="0"/>
                <a:ea typeface="Calibri" pitchFamily="34" charset="-122"/>
                <a:cs typeface="Calibri" pitchFamily="34" charset="-120"/>
              </a:rPr>
              <a:t>
</a:t>
            </a:r>
            <a:endParaRPr lang="en-US" sz="1200" dirty="0"/>
          </a:p>
          <a:p>
            <a:pPr marL="0" indent="0">
              <a:lnSpc>
                <a:spcPts val="1600"/>
              </a:lnSpc>
              <a:buNone/>
            </a:pPr>
            <a:r>
              <a:rPr lang="en-US" sz="1200" dirty="0">
                <a:solidFill>
                  <a:srgbClr val="CCCCCC"/>
                </a:solidFill>
                <a:latin typeface="Calibri" pitchFamily="34" charset="0"/>
                <a:ea typeface="Calibri" pitchFamily="34" charset="-122"/>
                <a:cs typeface="Calibri" pitchFamily="34" charset="-120"/>
              </a:rPr>
              <a:t>As a beta partner, you have direct influence on the methodology's direction</a:t>
            </a:r>
            <a:endParaRPr lang="en-US" sz="1200" dirty="0"/>
          </a:p>
        </p:txBody>
      </p:sp>
      <p:sp>
        <p:nvSpPr>
          <p:cNvPr id="6" name="Text 4"/>
          <p:cNvSpPr/>
          <p:nvPr/>
        </p:nvSpPr>
        <p:spPr>
          <a:xfrm>
            <a:off x="457200" y="4846320"/>
            <a:ext cx="8229600" cy="228600"/>
          </a:xfrm>
          <a:prstGeom prst="rect">
            <a:avLst/>
          </a:prstGeom>
          <a:noFill/>
          <a:ln/>
        </p:spPr>
        <p:txBody>
          <a:bodyPr wrap="square" lIns="0" tIns="0" rIns="0" bIns="0" rtlCol="0" anchor="ctr"/>
          <a:lstStyle/>
          <a:p>
            <a:pPr marL="0" indent="0">
              <a:buNone/>
            </a:pPr>
            <a:r>
              <a:rPr lang="en-US" sz="800" dirty="0">
                <a:solidFill>
                  <a:srgbClr val="8899A6"/>
                </a:solidFill>
              </a:rPr>
              <a:t>BVIF  ·  9 / 10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E2D"/>
        </a:solidFill>
        <a:effectLst/>
      </p:bgPr>
    </p:bg>
    <p:spTree>
      <p:nvGrpSpPr>
        <p:cNvPr id="1" name=""/>
        <p:cNvGrpSpPr/>
        <p:nvPr/>
      </p:nvGrpSpPr>
      <p:grpSpPr>
        <a:xfrm>
          <a:off x="0" y="0"/>
          <a:ext cx="0" cy="0"/>
          <a:chOff x="0" y="0"/>
          <a:chExt cx="0" cy="0"/>
        </a:xfrm>
      </p:grpSpPr>
      <p:sp>
        <p:nvSpPr>
          <p:cNvPr id="2" name="Shape 0"/>
          <p:cNvSpPr/>
          <p:nvPr/>
        </p:nvSpPr>
        <p:spPr>
          <a:xfrm>
            <a:off x="8778240" y="0"/>
            <a:ext cx="365760" cy="5143500"/>
          </a:xfrm>
          <a:prstGeom prst="rect">
            <a:avLst/>
          </a:prstGeom>
          <a:solidFill>
            <a:srgbClr val="FF9900"/>
          </a:solidFill>
          <a:ln/>
        </p:spPr>
        <p:txBody>
          <a:bodyPr/>
          <a:lstStyle/>
          <a:p>
            <a:endParaRPr lang="en-US"/>
          </a:p>
        </p:txBody>
      </p:sp>
      <p:sp>
        <p:nvSpPr>
          <p:cNvPr id="3" name="Text 1"/>
          <p:cNvSpPr/>
          <p:nvPr/>
        </p:nvSpPr>
        <p:spPr>
          <a:xfrm>
            <a:off x="731520" y="640080"/>
            <a:ext cx="7315200" cy="640080"/>
          </a:xfrm>
          <a:prstGeom prst="rect">
            <a:avLst/>
          </a:prstGeom>
          <a:noFill/>
          <a:ln/>
        </p:spPr>
        <p:txBody>
          <a:bodyPr wrap="square" lIns="0" tIns="0" rIns="0" bIns="0" rtlCol="0" anchor="ctr"/>
          <a:lstStyle/>
          <a:p>
            <a:pPr marL="0" indent="0">
              <a:buNone/>
            </a:pPr>
            <a:r>
              <a:rPr lang="en-US" sz="3200" dirty="0">
                <a:solidFill>
                  <a:srgbClr val="FFFFFF"/>
                </a:solidFill>
                <a:latin typeface="Calibri" pitchFamily="34" charset="0"/>
                <a:ea typeface="Calibri" pitchFamily="34" charset="-122"/>
                <a:cs typeface="Calibri" pitchFamily="34" charset="-120"/>
              </a:rPr>
              <a:t>Next Steps</a:t>
            </a:r>
            <a:endParaRPr lang="en-US" sz="3200" dirty="0"/>
          </a:p>
        </p:txBody>
      </p:sp>
      <p:sp>
        <p:nvSpPr>
          <p:cNvPr id="4" name="Shape 2"/>
          <p:cNvSpPr/>
          <p:nvPr/>
        </p:nvSpPr>
        <p:spPr>
          <a:xfrm>
            <a:off x="731520" y="1463040"/>
            <a:ext cx="7680960" cy="1280160"/>
          </a:xfrm>
          <a:prstGeom prst="roundRect">
            <a:avLst>
              <a:gd name="adj" fmla="val 5714"/>
            </a:avLst>
          </a:prstGeom>
          <a:solidFill>
            <a:srgbClr val="2A3A4E"/>
          </a:solidFill>
          <a:ln/>
        </p:spPr>
        <p:txBody>
          <a:bodyPr/>
          <a:lstStyle/>
          <a:p>
            <a:endParaRPr lang="en-US"/>
          </a:p>
        </p:txBody>
      </p:sp>
      <p:sp>
        <p:nvSpPr>
          <p:cNvPr id="5" name="Text 3"/>
          <p:cNvSpPr/>
          <p:nvPr/>
        </p:nvSpPr>
        <p:spPr>
          <a:xfrm>
            <a:off x="1005840" y="1600200"/>
            <a:ext cx="3657600" cy="320040"/>
          </a:xfrm>
          <a:prstGeom prst="rect">
            <a:avLst/>
          </a:prstGeom>
          <a:noFill/>
          <a:ln/>
        </p:spPr>
        <p:txBody>
          <a:bodyPr wrap="square" lIns="0" tIns="0" rIns="0" bIns="0" rtlCol="0" anchor="ctr"/>
          <a:lstStyle/>
          <a:p>
            <a:pPr marL="0" indent="0">
              <a:buNone/>
            </a:pPr>
            <a:r>
              <a:rPr lang="en-US" sz="1200" dirty="0">
                <a:solidFill>
                  <a:srgbClr val="8899A6"/>
                </a:solidFill>
                <a:latin typeface="Calibri" pitchFamily="34" charset="0"/>
                <a:ea typeface="Calibri" pitchFamily="34" charset="-122"/>
                <a:cs typeface="Calibri" pitchFamily="34" charset="-120"/>
              </a:rPr>
              <a:t>We propose starting with</a:t>
            </a:r>
            <a:endParaRPr lang="en-US" sz="1200" dirty="0"/>
          </a:p>
        </p:txBody>
      </p:sp>
      <p:sp>
        <p:nvSpPr>
          <p:cNvPr id="6" name="Text 4"/>
          <p:cNvSpPr/>
          <p:nvPr/>
        </p:nvSpPr>
        <p:spPr>
          <a:xfrm>
            <a:off x="1005840" y="1920240"/>
            <a:ext cx="3657600" cy="548640"/>
          </a:xfrm>
          <a:prstGeom prst="rect">
            <a:avLst/>
          </a:prstGeom>
          <a:noFill/>
          <a:ln/>
        </p:spPr>
        <p:txBody>
          <a:bodyPr wrap="square" lIns="0" tIns="0" rIns="0" bIns="0" rtlCol="0" anchor="ctr"/>
          <a:lstStyle/>
          <a:p>
            <a:pPr marL="0" indent="0">
              <a:buNone/>
            </a:pPr>
            <a:r>
              <a:rPr lang="en-US" sz="2600" dirty="0">
                <a:solidFill>
                  <a:srgbClr val="FF9900"/>
                </a:solidFill>
                <a:latin typeface="Calibri" pitchFamily="34" charset="0"/>
                <a:ea typeface="Calibri" pitchFamily="34" charset="-122"/>
                <a:cs typeface="Calibri" pitchFamily="34" charset="-120"/>
              </a:rPr>
              <a:t>2 AI Initiatives</a:t>
            </a:r>
            <a:endParaRPr lang="en-US" sz="2600" dirty="0"/>
          </a:p>
        </p:txBody>
      </p:sp>
      <p:sp>
        <p:nvSpPr>
          <p:cNvPr id="7" name="Text 5"/>
          <p:cNvSpPr/>
          <p:nvPr/>
        </p:nvSpPr>
        <p:spPr>
          <a:xfrm>
            <a:off x="1005840" y="2423160"/>
            <a:ext cx="7132320" cy="274320"/>
          </a:xfrm>
          <a:prstGeom prst="rect">
            <a:avLst/>
          </a:prstGeom>
          <a:noFill/>
          <a:ln/>
        </p:spPr>
        <p:txBody>
          <a:bodyPr wrap="square" lIns="0" tIns="0" rIns="0" bIns="0" rtlCol="0" anchor="ctr"/>
          <a:lstStyle/>
          <a:p>
            <a:pPr marL="0" indent="0">
              <a:buNone/>
            </a:pPr>
            <a:r>
              <a:rPr lang="en-US" sz="1100" dirty="0">
                <a:solidFill>
                  <a:srgbClr val="AAAAAA"/>
                </a:solidFill>
                <a:latin typeface="Calibri" pitchFamily="34" charset="0"/>
                <a:ea typeface="Calibri" pitchFamily="34" charset="-122"/>
                <a:cs typeface="Calibri" pitchFamily="34" charset="-120"/>
              </a:rPr>
              <a:t>Run BVIF end-to-end for each → estimated annualized business value</a:t>
            </a:r>
            <a:endParaRPr lang="en-US" sz="1100" dirty="0"/>
          </a:p>
        </p:txBody>
      </p:sp>
      <p:sp>
        <p:nvSpPr>
          <p:cNvPr id="8" name="Text 6"/>
          <p:cNvSpPr/>
          <p:nvPr/>
        </p:nvSpPr>
        <p:spPr>
          <a:xfrm>
            <a:off x="822960" y="3017520"/>
            <a:ext cx="320040" cy="320040"/>
          </a:xfrm>
          <a:prstGeom prst="ellipse">
            <a:avLst/>
          </a:prstGeom>
          <a:solidFill>
            <a:srgbClr val="FF9900"/>
          </a:solidFill>
          <a:ln/>
        </p:spPr>
        <p:txBody>
          <a:bodyPr wrap="square" lIns="0" tIns="0" rIns="0" bIns="0" rtlCol="0" anchor="ctr"/>
          <a:lstStyle/>
          <a:p>
            <a:pPr marL="0" indent="0" algn="ctr">
              <a:buNone/>
            </a:pPr>
            <a:r>
              <a:rPr lang="en-US" sz="1100" dirty="0">
                <a:solidFill>
                  <a:srgbClr val="232F3E"/>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280160" y="3017520"/>
            <a:ext cx="6858000" cy="347472"/>
          </a:xfrm>
          <a:prstGeom prst="rect">
            <a:avLst/>
          </a:prstGeom>
          <a:noFill/>
          <a:ln/>
        </p:spPr>
        <p:txBody>
          <a:bodyPr wrap="square" lIns="0" tIns="0" rIns="0" bIns="0" rtlCol="0" anchor="ctr"/>
          <a:lstStyle/>
          <a:p>
            <a:pPr marL="0" indent="0">
              <a:buNone/>
            </a:pPr>
            <a:r>
              <a:rPr lang="en-US" sz="1200" dirty="0">
                <a:solidFill>
                  <a:srgbClr val="CCCCCC"/>
                </a:solidFill>
                <a:latin typeface="Calibri" pitchFamily="34" charset="0"/>
                <a:ea typeface="Calibri" pitchFamily="34" charset="-122"/>
                <a:cs typeface="Calibri" pitchFamily="34" charset="-120"/>
              </a:rPr>
              <a:t>Identify your top AI initiative candidates (we can help brainstorm)</a:t>
            </a:r>
            <a:endParaRPr lang="en-US" sz="1200" dirty="0"/>
          </a:p>
        </p:txBody>
      </p:sp>
      <p:sp>
        <p:nvSpPr>
          <p:cNvPr id="10" name="Text 8"/>
          <p:cNvSpPr/>
          <p:nvPr/>
        </p:nvSpPr>
        <p:spPr>
          <a:xfrm>
            <a:off x="822960" y="3429000"/>
            <a:ext cx="320040" cy="320040"/>
          </a:xfrm>
          <a:prstGeom prst="ellipse">
            <a:avLst/>
          </a:prstGeom>
          <a:solidFill>
            <a:srgbClr val="FF9900"/>
          </a:solidFill>
          <a:ln/>
        </p:spPr>
        <p:txBody>
          <a:bodyPr wrap="square" lIns="0" tIns="0" rIns="0" bIns="0" rtlCol="0" anchor="ctr"/>
          <a:lstStyle/>
          <a:p>
            <a:pPr marL="0" indent="0" algn="ctr">
              <a:buNone/>
            </a:pPr>
            <a:r>
              <a:rPr lang="en-US" sz="1100" dirty="0">
                <a:solidFill>
                  <a:srgbClr val="232F3E"/>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1280160" y="3429000"/>
            <a:ext cx="6858000" cy="347472"/>
          </a:xfrm>
          <a:prstGeom prst="rect">
            <a:avLst/>
          </a:prstGeom>
          <a:noFill/>
          <a:ln/>
        </p:spPr>
        <p:txBody>
          <a:bodyPr wrap="square" lIns="0" tIns="0" rIns="0" bIns="0" rtlCol="0" anchor="ctr"/>
          <a:lstStyle/>
          <a:p>
            <a:pPr marL="0" indent="0">
              <a:buNone/>
            </a:pPr>
            <a:r>
              <a:rPr lang="en-US" sz="1200" dirty="0">
                <a:solidFill>
                  <a:srgbClr val="CCCCCC"/>
                </a:solidFill>
                <a:latin typeface="Calibri" pitchFamily="34" charset="0"/>
                <a:ea typeface="Calibri" pitchFamily="34" charset="-122"/>
                <a:cs typeface="Calibri" pitchFamily="34" charset="-120"/>
              </a:rPr>
              <a:t>Run the full 7-stage BVIF process for each</a:t>
            </a:r>
            <a:endParaRPr lang="en-US" sz="1200" dirty="0"/>
          </a:p>
        </p:txBody>
      </p:sp>
      <p:sp>
        <p:nvSpPr>
          <p:cNvPr id="12" name="Text 10"/>
          <p:cNvSpPr/>
          <p:nvPr/>
        </p:nvSpPr>
        <p:spPr>
          <a:xfrm>
            <a:off x="822960" y="3840480"/>
            <a:ext cx="320040" cy="320040"/>
          </a:xfrm>
          <a:prstGeom prst="ellipse">
            <a:avLst/>
          </a:prstGeom>
          <a:solidFill>
            <a:srgbClr val="FF9900"/>
          </a:solidFill>
          <a:ln/>
        </p:spPr>
        <p:txBody>
          <a:bodyPr wrap="square" lIns="0" tIns="0" rIns="0" bIns="0" rtlCol="0" anchor="ctr"/>
          <a:lstStyle/>
          <a:p>
            <a:pPr marL="0" indent="0" algn="ctr">
              <a:buNone/>
            </a:pPr>
            <a:r>
              <a:rPr lang="en-US" sz="1100" dirty="0">
                <a:solidFill>
                  <a:srgbClr val="232F3E"/>
                </a:solidFill>
                <a:latin typeface="Calibri" pitchFamily="34" charset="0"/>
                <a:ea typeface="Calibri" pitchFamily="34" charset="-122"/>
                <a:cs typeface="Calibri" pitchFamily="34" charset="-120"/>
              </a:rPr>
              <a:t>3</a:t>
            </a:r>
            <a:endParaRPr lang="en-US" sz="1100" dirty="0"/>
          </a:p>
        </p:txBody>
      </p:sp>
      <p:sp>
        <p:nvSpPr>
          <p:cNvPr id="13" name="Text 11"/>
          <p:cNvSpPr/>
          <p:nvPr/>
        </p:nvSpPr>
        <p:spPr>
          <a:xfrm>
            <a:off x="1280160" y="3840480"/>
            <a:ext cx="6858000" cy="347472"/>
          </a:xfrm>
          <a:prstGeom prst="rect">
            <a:avLst/>
          </a:prstGeom>
          <a:noFill/>
          <a:ln/>
        </p:spPr>
        <p:txBody>
          <a:bodyPr wrap="square" lIns="0" tIns="0" rIns="0" bIns="0" rtlCol="0" anchor="ctr"/>
          <a:lstStyle/>
          <a:p>
            <a:pPr marL="0" indent="0">
              <a:buNone/>
            </a:pPr>
            <a:r>
              <a:rPr lang="en-US" sz="1200" dirty="0">
                <a:solidFill>
                  <a:srgbClr val="CCCCCC"/>
                </a:solidFill>
                <a:latin typeface="Calibri" pitchFamily="34" charset="0"/>
                <a:ea typeface="Calibri" pitchFamily="34" charset="-122"/>
                <a:cs typeface="Calibri" pitchFamily="34" charset="-120"/>
              </a:rPr>
              <a:t>Deliver structured business value estimates</a:t>
            </a:r>
            <a:endParaRPr lang="en-US" sz="1200" dirty="0"/>
          </a:p>
        </p:txBody>
      </p:sp>
      <p:sp>
        <p:nvSpPr>
          <p:cNvPr id="14" name="Text 12"/>
          <p:cNvSpPr/>
          <p:nvPr/>
        </p:nvSpPr>
        <p:spPr>
          <a:xfrm>
            <a:off x="822960" y="4251960"/>
            <a:ext cx="320040" cy="320040"/>
          </a:xfrm>
          <a:prstGeom prst="ellipse">
            <a:avLst/>
          </a:prstGeom>
          <a:solidFill>
            <a:srgbClr val="FF9900"/>
          </a:solidFill>
          <a:ln/>
        </p:spPr>
        <p:txBody>
          <a:bodyPr wrap="square" lIns="0" tIns="0" rIns="0" bIns="0" rtlCol="0" anchor="ctr"/>
          <a:lstStyle/>
          <a:p>
            <a:pPr marL="0" indent="0" algn="ctr">
              <a:buNone/>
            </a:pPr>
            <a:r>
              <a:rPr lang="en-US" sz="1100" dirty="0">
                <a:solidFill>
                  <a:srgbClr val="232F3E"/>
                </a:solidFill>
                <a:latin typeface="Calibri" pitchFamily="34" charset="0"/>
                <a:ea typeface="Calibri" pitchFamily="34" charset="-122"/>
                <a:cs typeface="Calibri" pitchFamily="34" charset="-120"/>
              </a:rPr>
              <a:t>4</a:t>
            </a:r>
            <a:endParaRPr lang="en-US" sz="1100" dirty="0"/>
          </a:p>
        </p:txBody>
      </p:sp>
      <p:sp>
        <p:nvSpPr>
          <p:cNvPr id="15" name="Text 13"/>
          <p:cNvSpPr/>
          <p:nvPr/>
        </p:nvSpPr>
        <p:spPr>
          <a:xfrm>
            <a:off x="1280160" y="4251960"/>
            <a:ext cx="6858000" cy="347472"/>
          </a:xfrm>
          <a:prstGeom prst="rect">
            <a:avLst/>
          </a:prstGeom>
          <a:noFill/>
          <a:ln/>
        </p:spPr>
        <p:txBody>
          <a:bodyPr wrap="square" lIns="0" tIns="0" rIns="0" bIns="0" rtlCol="0" anchor="ctr"/>
          <a:lstStyle/>
          <a:p>
            <a:pPr marL="0" indent="0">
              <a:buNone/>
            </a:pPr>
            <a:r>
              <a:rPr lang="en-US" sz="1200" dirty="0">
                <a:solidFill>
                  <a:srgbClr val="CCCCCC"/>
                </a:solidFill>
                <a:latin typeface="Calibri" pitchFamily="34" charset="0"/>
                <a:ea typeface="Calibri" pitchFamily="34" charset="-122"/>
                <a:cs typeface="Calibri" pitchFamily="34" charset="-120"/>
              </a:rPr>
              <a:t>Use results to inform prioritization and next steps</a:t>
            </a:r>
            <a:endParaRPr lang="en-US" sz="1200" dirty="0"/>
          </a:p>
        </p:txBody>
      </p:sp>
      <p:sp>
        <p:nvSpPr>
          <p:cNvPr id="16" name="Text 14"/>
          <p:cNvSpPr/>
          <p:nvPr/>
        </p:nvSpPr>
        <p:spPr>
          <a:xfrm>
            <a:off x="457200" y="4846320"/>
            <a:ext cx="8229600" cy="228600"/>
          </a:xfrm>
          <a:prstGeom prst="rect">
            <a:avLst/>
          </a:prstGeom>
          <a:noFill/>
          <a:ln/>
        </p:spPr>
        <p:txBody>
          <a:bodyPr wrap="square" lIns="0" tIns="0" rIns="0" bIns="0" rtlCol="0" anchor="ctr"/>
          <a:lstStyle/>
          <a:p>
            <a:pPr marL="0" indent="0">
              <a:buNone/>
            </a:pPr>
            <a:r>
              <a:rPr lang="en-US" sz="800" dirty="0">
                <a:solidFill>
                  <a:srgbClr val="8899A6"/>
                </a:solidFill>
              </a:rPr>
              <a:t>BVIF  ·  10 / 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a:extLst>
            <a:ext uri="{FF2B5EF4-FFF2-40B4-BE49-F238E27FC236}">
              <a16:creationId xmlns:a16="http://schemas.microsoft.com/office/drawing/2014/main" id="{5826D195-F355-1DF9-CA67-DB1D8C04EEE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42E58F2-3AE4-D9A6-4D0E-037D170AD28A}"/>
              </a:ext>
            </a:extLst>
          </p:cNvPr>
          <p:cNvSpPr/>
          <p:nvPr/>
        </p:nvSpPr>
        <p:spPr>
          <a:xfrm>
            <a:off x="8778240" y="0"/>
            <a:ext cx="365760" cy="5143500"/>
          </a:xfrm>
          <a:prstGeom prst="rect">
            <a:avLst/>
          </a:prstGeom>
          <a:solidFill>
            <a:srgbClr val="FF99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772118F-052A-BB34-BECF-FAAAAA85C139}"/>
              </a:ext>
            </a:extLst>
          </p:cNvPr>
          <p:cNvSpPr/>
          <p:nvPr/>
        </p:nvSpPr>
        <p:spPr>
          <a:xfrm>
            <a:off x="731520" y="1280160"/>
            <a:ext cx="6858000" cy="2011680"/>
          </a:xfrm>
          <a:prstGeom prst="rect">
            <a:avLst/>
          </a:prstGeom>
          <a:noFill/>
          <a:ln/>
        </p:spPr>
        <p:txBody>
          <a:bodyPr wrap="square" lIns="0" tIns="0" rIns="0" bIns="0" rtlCol="0" anchor="ctr"/>
          <a:lstStyle/>
          <a:p>
            <a:pPr marL="0" marR="0" lvl="0" indent="0" algn="l" defTabSz="914400" rtl="0" eaLnBrk="1" fontAlgn="auto" latinLnBrk="0" hangingPunct="1">
              <a:lnSpc>
                <a:spcPts val="4800"/>
              </a:lnSpc>
              <a:spcBef>
                <a:spcPts val="0"/>
              </a:spcBef>
              <a:spcAft>
                <a:spcPts val="0"/>
              </a:spcAft>
              <a:buClrTx/>
              <a:buSzTx/>
              <a:buFontTx/>
              <a:buNone/>
              <a:tabLst/>
              <a:defRPr/>
            </a:pPr>
            <a:r>
              <a:rPr kumimoji="0" lang="en-US" sz="38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Business Value</a:t>
            </a:r>
            <a:endParaRPr kumimoji="0" lang="en-US" sz="3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4800"/>
              </a:lnSpc>
              <a:spcBef>
                <a:spcPts val="0"/>
              </a:spcBef>
              <a:spcAft>
                <a:spcPts val="0"/>
              </a:spcAft>
              <a:buClrTx/>
              <a:buSzTx/>
              <a:buFontTx/>
              <a:buNone/>
              <a:tabLst/>
              <a:defRPr/>
            </a:pPr>
            <a:r>
              <a:rPr kumimoji="0" lang="en-US" sz="38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Identification Framework</a:t>
            </a:r>
            <a:endParaRPr kumimoji="0" lang="en-US" sz="3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940817F5-D407-031F-F761-BE9E5CEA61B8}"/>
              </a:ext>
            </a:extLst>
          </p:cNvPr>
          <p:cNvSpPr/>
          <p:nvPr/>
        </p:nvSpPr>
        <p:spPr>
          <a:xfrm>
            <a:off x="731520" y="3200400"/>
            <a:ext cx="27432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9900"/>
                </a:solidFill>
                <a:effectLst/>
                <a:uLnTx/>
                <a:uFillTx/>
                <a:latin typeface="Calibri" pitchFamily="34" charset="0"/>
                <a:ea typeface="Calibri" pitchFamily="34" charset="-122"/>
                <a:cs typeface="Calibri" pitchFamily="34" charset="-120"/>
              </a:rPr>
              <a:t>BVIF</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CD690599-3DE8-EEF2-64D8-7CA906F3E245}"/>
              </a:ext>
            </a:extLst>
          </p:cNvPr>
          <p:cNvSpPr/>
          <p:nvPr/>
        </p:nvSpPr>
        <p:spPr>
          <a:xfrm>
            <a:off x="731520" y="4389120"/>
            <a:ext cx="73152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899A6"/>
                </a:solidFill>
                <a:effectLst/>
                <a:uLnTx/>
                <a:uFillTx/>
                <a:latin typeface="Calibri" pitchFamily="34" charset="0"/>
                <a:ea typeface="Calibri" pitchFamily="34" charset="-122"/>
                <a:cs typeface="Calibri" pitchFamily="34" charset="-120"/>
              </a:rPr>
              <a:t>AWS Principal Technologist Team  |  AI Transformation  |  June 2026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543FE2BB-6F23-456E-B579-7E24807DA1F7}"/>
              </a:ext>
            </a:extLst>
          </p:cNvPr>
          <p:cNvSpPr txBox="1"/>
          <p:nvPr/>
        </p:nvSpPr>
        <p:spPr>
          <a:xfrm>
            <a:off x="644576" y="4127510"/>
            <a:ext cx="4572000"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899A6"/>
                </a:solidFill>
                <a:effectLst/>
                <a:uLnTx/>
                <a:uFillTx/>
                <a:latin typeface="Calibri" pitchFamily="34" charset="0"/>
                <a:ea typeface="Calibri" pitchFamily="34" charset="-122"/>
                <a:cs typeface="Calibri" pitchFamily="34" charset="-120"/>
              </a:rPr>
              <a:t>Mau Munoz - </a:t>
            </a:r>
            <a:r>
              <a:rPr kumimoji="0" lang="en-US" sz="1100" b="0" i="0" u="none" strike="noStrike" kern="1200" cap="none" spc="0" normalizeH="0" baseline="0" noProof="0" dirty="0" err="1">
                <a:ln>
                  <a:noFill/>
                </a:ln>
                <a:solidFill>
                  <a:srgbClr val="8899A6"/>
                </a:solidFill>
                <a:effectLst/>
                <a:uLnTx/>
                <a:uFillTx/>
                <a:latin typeface="Calibri" pitchFamily="34" charset="0"/>
                <a:ea typeface="Calibri" pitchFamily="34" charset="-122"/>
                <a:cs typeface="Calibri" pitchFamily="34" charset="-120"/>
              </a:rPr>
              <a:t>maumunoz@amazon.com</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4085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232F3E"/>
        </a:solidFill>
        <a:effectLst/>
      </p:bgPr>
    </p:bg>
    <p:spTree>
      <p:nvGrpSpPr>
        <p:cNvPr id="1" name=""/>
        <p:cNvGrpSpPr/>
        <p:nvPr/>
      </p:nvGrpSpPr>
      <p:grpSpPr>
        <a:xfrm>
          <a:off x="0" y="0"/>
          <a:ext cx="0" cy="0"/>
          <a:chOff x="0" y="0"/>
          <a:chExt cx="0" cy="0"/>
        </a:xfrm>
      </p:grpSpPr>
      <p:sp>
        <p:nvSpPr>
          <p:cNvPr id="2" name="Shape 0"/>
          <p:cNvSpPr/>
          <p:nvPr/>
        </p:nvSpPr>
        <p:spPr>
          <a:xfrm>
            <a:off x="8778240" y="0"/>
            <a:ext cx="365760" cy="5143500"/>
          </a:xfrm>
          <a:prstGeom prst="rect">
            <a:avLst/>
          </a:prstGeom>
          <a:solidFill>
            <a:srgbClr val="FF9900"/>
          </a:solidFill>
          <a:ln/>
        </p:spPr>
        <p:txBody>
          <a:bodyPr/>
          <a:lstStyle/>
          <a:p>
            <a:endParaRPr lang="en-US"/>
          </a:p>
        </p:txBody>
      </p:sp>
      <p:sp>
        <p:nvSpPr>
          <p:cNvPr id="3" name="Text 1"/>
          <p:cNvSpPr/>
          <p:nvPr/>
        </p:nvSpPr>
        <p:spPr>
          <a:xfrm>
            <a:off x="731520" y="1280160"/>
            <a:ext cx="6858000" cy="365760"/>
          </a:xfrm>
          <a:prstGeom prst="rect">
            <a:avLst/>
          </a:prstGeom>
          <a:noFill/>
          <a:ln/>
        </p:spPr>
        <p:txBody>
          <a:bodyPr wrap="square" lIns="0" tIns="0" rIns="0" bIns="0" rtlCol="0" anchor="ctr"/>
          <a:lstStyle/>
          <a:p>
            <a:pPr marL="0" indent="0">
              <a:buNone/>
            </a:pPr>
            <a:r>
              <a:rPr lang="en-US" sz="1100" kern="0" spc="400" dirty="0">
                <a:solidFill>
                  <a:srgbClr val="FF9900"/>
                </a:solidFill>
                <a:latin typeface="Calibri" pitchFamily="34" charset="0"/>
                <a:ea typeface="Calibri" pitchFamily="34" charset="-122"/>
                <a:cs typeface="Calibri" pitchFamily="34" charset="-120"/>
              </a:rPr>
              <a:t>APPENDIX</a:t>
            </a:r>
            <a:endParaRPr lang="en-US" sz="1100" dirty="0"/>
          </a:p>
        </p:txBody>
      </p:sp>
      <p:sp>
        <p:nvSpPr>
          <p:cNvPr id="4" name="Text 2"/>
          <p:cNvSpPr/>
          <p:nvPr/>
        </p:nvSpPr>
        <p:spPr>
          <a:xfrm>
            <a:off x="731520" y="1737360"/>
            <a:ext cx="7315200" cy="1280160"/>
          </a:xfrm>
          <a:prstGeom prst="rect">
            <a:avLst/>
          </a:prstGeom>
          <a:noFill/>
          <a:ln/>
        </p:spPr>
        <p:txBody>
          <a:bodyPr wrap="square" lIns="0" tIns="0" rIns="0" bIns="0" rtlCol="0" anchor="ctr"/>
          <a:lstStyle/>
          <a:p>
            <a:pPr marL="0" indent="0">
              <a:lnSpc>
                <a:spcPts val="4400"/>
              </a:lnSpc>
              <a:buNone/>
            </a:pPr>
            <a:r>
              <a:rPr lang="en-US" sz="3600" dirty="0">
                <a:solidFill>
                  <a:srgbClr val="FFFFFF"/>
                </a:solidFill>
                <a:latin typeface="Calibri" pitchFamily="34" charset="0"/>
                <a:ea typeface="Calibri" pitchFamily="34" charset="-122"/>
                <a:cs typeface="Calibri" pitchFamily="34" charset="-120"/>
              </a:rPr>
              <a:t>Uncertainty model</a:t>
            </a:r>
            <a:endParaRPr lang="en-US" sz="3600" dirty="0"/>
          </a:p>
          <a:p>
            <a:pPr marL="0" indent="0">
              <a:lnSpc>
                <a:spcPts val="4400"/>
              </a:lnSpc>
              <a:buNone/>
            </a:pPr>
            <a:r>
              <a:rPr lang="en-US" sz="3600" dirty="0">
                <a:solidFill>
                  <a:srgbClr val="FFFFFF"/>
                </a:solidFill>
                <a:latin typeface="Calibri" pitchFamily="34" charset="0"/>
                <a:ea typeface="Calibri" pitchFamily="34" charset="-122"/>
                <a:cs typeface="Calibri" pitchFamily="34" charset="-120"/>
              </a:rPr>
              <a:t>Stages 5, 6 and 7 in detail</a:t>
            </a:r>
            <a:endParaRPr lang="en-US" sz="3600" dirty="0"/>
          </a:p>
        </p:txBody>
      </p:sp>
      <p:sp>
        <p:nvSpPr>
          <p:cNvPr id="5" name="Text 3"/>
          <p:cNvSpPr/>
          <p:nvPr/>
        </p:nvSpPr>
        <p:spPr>
          <a:xfrm>
            <a:off x="731520" y="3383280"/>
            <a:ext cx="7315200" cy="365760"/>
          </a:xfrm>
          <a:prstGeom prst="rect">
            <a:avLst/>
          </a:prstGeom>
          <a:noFill/>
          <a:ln/>
        </p:spPr>
        <p:txBody>
          <a:bodyPr wrap="square" lIns="0" tIns="0" rIns="0" bIns="0" rtlCol="0" anchor="ctr"/>
          <a:lstStyle/>
          <a:p>
            <a:pPr marL="0" indent="0">
              <a:buNone/>
            </a:pPr>
            <a:r>
              <a:rPr lang="en-US" sz="1300" dirty="0">
                <a:solidFill>
                  <a:srgbClr val="CCCCCC"/>
                </a:solidFill>
                <a:latin typeface="Calibri" pitchFamily="34" charset="0"/>
                <a:ea typeface="Calibri" pitchFamily="34" charset="-122"/>
                <a:cs typeface="Calibri" pitchFamily="34" charset="-120"/>
              </a:rPr>
              <a:t>How we collect three-point estimates, run Monte Carlo, and report a value range</a:t>
            </a:r>
            <a:endParaRPr lang="en-US" sz="1300" dirty="0"/>
          </a:p>
        </p:txBody>
      </p:sp>
      <p:sp>
        <p:nvSpPr>
          <p:cNvPr id="6" name="Text 4"/>
          <p:cNvSpPr/>
          <p:nvPr/>
        </p:nvSpPr>
        <p:spPr>
          <a:xfrm>
            <a:off x="457200" y="4846320"/>
            <a:ext cx="8229600" cy="228600"/>
          </a:xfrm>
          <a:prstGeom prst="rect">
            <a:avLst/>
          </a:prstGeom>
          <a:noFill/>
          <a:ln/>
        </p:spPr>
        <p:txBody>
          <a:bodyPr wrap="square" lIns="0" tIns="0" rIns="0" bIns="0" rtlCol="0" anchor="ctr"/>
          <a:lstStyle/>
          <a:p>
            <a:pPr marL="0" indent="0">
              <a:buNone/>
            </a:pPr>
            <a:r>
              <a:rPr lang="en-US" sz="800" dirty="0">
                <a:solidFill>
                  <a:srgbClr val="8899A6"/>
                </a:solidFill>
              </a:rPr>
              <a:t>BVIF  ·  Appendix  ·  11 / 14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274320"/>
            <a:ext cx="4572000" cy="320040"/>
          </a:xfrm>
          <a:prstGeom prst="rect">
            <a:avLst/>
          </a:prstGeom>
          <a:noFill/>
          <a:ln/>
        </p:spPr>
        <p:txBody>
          <a:bodyPr wrap="square" lIns="0" tIns="0" rIns="0" bIns="0" rtlCol="0" anchor="ctr"/>
          <a:lstStyle/>
          <a:p>
            <a:pPr marL="0" indent="0">
              <a:buNone/>
            </a:pPr>
            <a:r>
              <a:rPr lang="en-US" sz="1000" kern="0" spc="300" dirty="0">
                <a:solidFill>
                  <a:srgbClr val="146EB4"/>
                </a:solidFill>
                <a:latin typeface="Calibri" pitchFamily="34" charset="0"/>
                <a:ea typeface="Calibri" pitchFamily="34" charset="-122"/>
                <a:cs typeface="Calibri" pitchFamily="34" charset="-120"/>
              </a:rPr>
              <a:t>APPENDIX  ·  STAGE 5</a:t>
            </a:r>
            <a:endParaRPr lang="en-US" sz="1000" dirty="0"/>
          </a:p>
        </p:txBody>
      </p:sp>
      <p:sp>
        <p:nvSpPr>
          <p:cNvPr id="3" name="Text 1"/>
          <p:cNvSpPr/>
          <p:nvPr/>
        </p:nvSpPr>
        <p:spPr>
          <a:xfrm>
            <a:off x="548640" y="640080"/>
            <a:ext cx="8229600" cy="548640"/>
          </a:xfrm>
          <a:prstGeom prst="rect">
            <a:avLst/>
          </a:prstGeom>
          <a:noFill/>
          <a:ln/>
        </p:spPr>
        <p:txBody>
          <a:bodyPr wrap="square" lIns="0" tIns="0" rIns="0" bIns="0" rtlCol="0" anchor="ctr"/>
          <a:lstStyle/>
          <a:p>
            <a:pPr marL="0" indent="0">
              <a:buNone/>
            </a:pPr>
            <a:r>
              <a:rPr lang="en-US" sz="3000" dirty="0">
                <a:solidFill>
                  <a:srgbClr val="232F3E"/>
                </a:solidFill>
                <a:latin typeface="Calibri" pitchFamily="34" charset="0"/>
                <a:ea typeface="Calibri" pitchFamily="34" charset="-122"/>
                <a:cs typeface="Calibri" pitchFamily="34" charset="-120"/>
              </a:rPr>
              <a:t>Data collection: capturing uncertainty</a:t>
            </a:r>
            <a:endParaRPr lang="en-US" sz="3000" dirty="0"/>
          </a:p>
        </p:txBody>
      </p:sp>
      <p:sp>
        <p:nvSpPr>
          <p:cNvPr id="4" name="Text 2"/>
          <p:cNvSpPr/>
          <p:nvPr/>
        </p:nvSpPr>
        <p:spPr>
          <a:xfrm>
            <a:off x="548640" y="1234440"/>
            <a:ext cx="8229600" cy="32004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Beyond the standard datapoints, we collect three additional inputs from stakeholders for each metric:</a:t>
            </a:r>
            <a:endParaRPr lang="en-US" sz="1100" dirty="0"/>
          </a:p>
        </p:txBody>
      </p:sp>
      <p:sp>
        <p:nvSpPr>
          <p:cNvPr id="10" name="Shape A1"/>
          <p:cNvSpPr/>
          <p:nvPr/>
        </p:nvSpPr>
        <p:spPr>
          <a:xfrm>
            <a:off x="548640" y="1737360"/>
            <a:ext cx="2606040" cy="2651760"/>
          </a:xfrm>
          <a:prstGeom prst="roundRect">
            <a:avLst>
              <a:gd name="adj" fmla="val 4500"/>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1" name="Shape A1bar"/>
          <p:cNvSpPr/>
          <p:nvPr/>
        </p:nvSpPr>
        <p:spPr>
          <a:xfrm>
            <a:off x="548640" y="1737360"/>
            <a:ext cx="54864" cy="2377440"/>
          </a:xfrm>
          <a:prstGeom prst="rect">
            <a:avLst/>
          </a:prstGeom>
          <a:solidFill>
            <a:srgbClr val="FF9900"/>
          </a:solidFill>
          <a:ln/>
        </p:spPr>
        <p:txBody>
          <a:bodyPr/>
          <a:lstStyle/>
          <a:p>
            <a:endParaRPr lang="en-US"/>
          </a:p>
        </p:txBody>
      </p:sp>
      <p:sp>
        <p:nvSpPr>
          <p:cNvPr id="12" name="Text A1 label"/>
          <p:cNvSpPr/>
          <p:nvPr/>
        </p:nvSpPr>
        <p:spPr>
          <a:xfrm>
            <a:off x="731520" y="1828800"/>
            <a:ext cx="2240280" cy="274320"/>
          </a:xfrm>
          <a:prstGeom prst="rect">
            <a:avLst/>
          </a:prstGeom>
          <a:noFill/>
          <a:ln/>
        </p:spPr>
        <p:txBody>
          <a:bodyPr wrap="square" lIns="0" tIns="0" rIns="0" bIns="0" rtlCol="0" anchor="ctr"/>
          <a:lstStyle/>
          <a:p>
            <a:pPr marL="0" indent="0">
              <a:buNone/>
            </a:pPr>
            <a:r>
              <a:rPr lang="en-US" sz="900" b="1" kern="0" spc="200" dirty="0">
                <a:solidFill>
                  <a:srgbClr val="FF9900"/>
                </a:solidFill>
                <a:latin typeface="Calibri" pitchFamily="34" charset="0"/>
                <a:ea typeface="Calibri" pitchFamily="34" charset="-122"/>
                <a:cs typeface="Calibri" pitchFamily="34" charset="-120"/>
              </a:rPr>
              <a:t>NEW INPUT 1</a:t>
            </a:r>
            <a:endParaRPr lang="en-US" sz="900" dirty="0"/>
          </a:p>
        </p:txBody>
      </p:sp>
      <p:sp>
        <p:nvSpPr>
          <p:cNvPr id="13" name="Text A1 title"/>
          <p:cNvSpPr/>
          <p:nvPr/>
        </p:nvSpPr>
        <p:spPr>
          <a:xfrm>
            <a:off x="731520" y="2103120"/>
            <a:ext cx="2240280" cy="365760"/>
          </a:xfrm>
          <a:prstGeom prst="rect">
            <a:avLst/>
          </a:prstGeom>
          <a:noFill/>
          <a:ln/>
        </p:spPr>
        <p:txBody>
          <a:bodyPr wrap="square" lIns="0" tIns="0" rIns="0" bIns="0" rtlCol="0" anchor="ctr"/>
          <a:lstStyle/>
          <a:p>
            <a:pPr marL="0" indent="0">
              <a:buNone/>
            </a:pPr>
            <a:r>
              <a:rPr lang="en-US" sz="1400" b="1" dirty="0">
                <a:solidFill>
                  <a:srgbClr val="232F3E"/>
                </a:solidFill>
                <a:latin typeface="Calibri" pitchFamily="34" charset="0"/>
                <a:ea typeface="Calibri" pitchFamily="34" charset="-122"/>
                <a:cs typeface="Calibri" pitchFamily="34" charset="-120"/>
              </a:rPr>
              <a:t>3-point improvement target</a:t>
            </a:r>
            <a:endParaRPr lang="en-US" sz="1400" dirty="0"/>
          </a:p>
        </p:txBody>
      </p:sp>
      <p:sp>
        <p:nvSpPr>
          <p:cNvPr id="14" name="Text A1 body"/>
          <p:cNvSpPr/>
          <p:nvPr/>
        </p:nvSpPr>
        <p:spPr>
          <a:xfrm>
            <a:off x="731520" y="2560320"/>
            <a:ext cx="2240280" cy="1463040"/>
          </a:xfrm>
          <a:prstGeom prst="rect">
            <a:avLst/>
          </a:prstGeom>
          <a:noFill/>
          <a:ln/>
        </p:spPr>
        <p:txBody>
          <a:bodyPr wrap="square" lIns="0" tIns="0" rIns="0" bIns="0" rtlCol="0" anchor="t"/>
          <a:lstStyle/>
          <a:p>
            <a:pPr marL="0" indent="0">
              <a:lnSpc>
                <a:spcPts val="1300"/>
              </a:lnSpc>
              <a:buNone/>
            </a:pPr>
            <a:r>
              <a:rPr lang="en-US" sz="1000" dirty="0">
                <a:solidFill>
                  <a:srgbClr val="444444"/>
                </a:solidFill>
                <a:latin typeface="Calibri" pitchFamily="34" charset="0"/>
                <a:ea typeface="Calibri" pitchFamily="34" charset="-122"/>
                <a:cs typeface="Calibri" pitchFamily="34" charset="-120"/>
              </a:rPr>
              <a:t>For each metric, we ask the stakeholder for three values, not one:</a:t>
            </a:r>
            <a:endParaRPr lang="en-US" sz="1000" dirty="0"/>
          </a:p>
          <a:p>
            <a:pPr marL="0" indent="0">
              <a:lnSpc>
                <a:spcPts val="1300"/>
              </a:lnSpc>
              <a:buNone/>
            </a:pPr>
            <a:endParaRPr lang="en-US" sz="600" dirty="0"/>
          </a:p>
          <a:p>
            <a:pPr marL="0" indent="0">
              <a:lnSpc>
                <a:spcPts val="1300"/>
              </a:lnSpc>
              <a:buNone/>
            </a:pPr>
            <a:r>
              <a:rPr lang="en-US" sz="1000" b="1" dirty="0">
                <a:solidFill>
                  <a:srgbClr val="232F3E"/>
                </a:solidFill>
              </a:rPr>
              <a:t>Pessimistic (P10)</a:t>
            </a:r>
            <a:r>
              <a:rPr lang="en-US" sz="1000" dirty="0">
                <a:solidFill>
                  <a:srgbClr val="444444"/>
                </a:solidFill>
              </a:rPr>
              <a:t> — realistic worst case</a:t>
            </a:r>
            <a:endParaRPr lang="en-US" sz="1000" dirty="0"/>
          </a:p>
          <a:p>
            <a:pPr marL="0" indent="0">
              <a:lnSpc>
                <a:spcPts val="1300"/>
              </a:lnSpc>
              <a:buNone/>
            </a:pPr>
            <a:r>
              <a:rPr lang="en-US" sz="1000" b="1" dirty="0">
                <a:solidFill>
                  <a:srgbClr val="232F3E"/>
                </a:solidFill>
              </a:rPr>
              <a:t>Most likely</a:t>
            </a:r>
            <a:r>
              <a:rPr lang="en-US" sz="1000" dirty="0">
                <a:solidFill>
                  <a:srgbClr val="444444"/>
                </a:solidFill>
              </a:rPr>
              <a:t> — what they expect</a:t>
            </a:r>
            <a:endParaRPr lang="en-US" sz="1000" dirty="0"/>
          </a:p>
          <a:p>
            <a:pPr marL="0" indent="0">
              <a:lnSpc>
                <a:spcPts val="1300"/>
              </a:lnSpc>
              <a:buNone/>
            </a:pPr>
            <a:r>
              <a:rPr lang="en-US" sz="1000" b="1" dirty="0">
                <a:solidFill>
                  <a:srgbClr val="232F3E"/>
                </a:solidFill>
              </a:rPr>
              <a:t>Optimistic (P90)</a:t>
            </a:r>
            <a:r>
              <a:rPr lang="en-US" sz="1000" dirty="0">
                <a:solidFill>
                  <a:srgbClr val="444444"/>
                </a:solidFill>
              </a:rPr>
              <a:t> — realistic best case</a:t>
            </a:r>
            <a:endParaRPr lang="en-US" sz="1000" dirty="0"/>
          </a:p>
          <a:p>
            <a:pPr marL="0" indent="0">
              <a:lnSpc>
                <a:spcPts val="1300"/>
              </a:lnSpc>
              <a:buNone/>
            </a:pPr>
            <a:endParaRPr lang="en-US" sz="600" dirty="0"/>
          </a:p>
          <a:p>
            <a:pPr marL="0" indent="0">
              <a:lnSpc>
                <a:spcPts val="1300"/>
              </a:lnSpc>
              <a:buNone/>
            </a:pPr>
            <a:r>
              <a:rPr lang="en-US" sz="1000" i="1" dirty="0">
                <a:solidFill>
                  <a:srgbClr val="666666"/>
                </a:solidFill>
              </a:rPr>
              <a:t>Captures the natural range of outcomes instead of false precision.</a:t>
            </a:r>
            <a:endParaRPr lang="en-US" sz="1000" dirty="0"/>
          </a:p>
        </p:txBody>
      </p:sp>
      <p:sp>
        <p:nvSpPr>
          <p:cNvPr id="20" name="Shape A2"/>
          <p:cNvSpPr/>
          <p:nvPr/>
        </p:nvSpPr>
        <p:spPr>
          <a:xfrm>
            <a:off x="3268980" y="1737360"/>
            <a:ext cx="2606040" cy="2651760"/>
          </a:xfrm>
          <a:prstGeom prst="roundRect">
            <a:avLst>
              <a:gd name="adj" fmla="val 4500"/>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21" name="Shape A2bar"/>
          <p:cNvSpPr/>
          <p:nvPr/>
        </p:nvSpPr>
        <p:spPr>
          <a:xfrm>
            <a:off x="3268980" y="1737360"/>
            <a:ext cx="54864" cy="2377440"/>
          </a:xfrm>
          <a:prstGeom prst="rect">
            <a:avLst/>
          </a:prstGeom>
          <a:solidFill>
            <a:srgbClr val="FF9900"/>
          </a:solidFill>
          <a:ln/>
        </p:spPr>
        <p:txBody>
          <a:bodyPr/>
          <a:lstStyle/>
          <a:p>
            <a:endParaRPr lang="en-US"/>
          </a:p>
        </p:txBody>
      </p:sp>
      <p:sp>
        <p:nvSpPr>
          <p:cNvPr id="22" name="Text A2 label"/>
          <p:cNvSpPr/>
          <p:nvPr/>
        </p:nvSpPr>
        <p:spPr>
          <a:xfrm>
            <a:off x="3451860" y="1828800"/>
            <a:ext cx="2240280" cy="274320"/>
          </a:xfrm>
          <a:prstGeom prst="rect">
            <a:avLst/>
          </a:prstGeom>
          <a:noFill/>
          <a:ln/>
        </p:spPr>
        <p:txBody>
          <a:bodyPr wrap="square" lIns="0" tIns="0" rIns="0" bIns="0" rtlCol="0" anchor="ctr"/>
          <a:lstStyle/>
          <a:p>
            <a:pPr marL="0" indent="0">
              <a:buNone/>
            </a:pPr>
            <a:r>
              <a:rPr lang="en-US" sz="900" b="1" kern="0" spc="200" dirty="0">
                <a:solidFill>
                  <a:srgbClr val="FF9900"/>
                </a:solidFill>
                <a:latin typeface="Calibri" pitchFamily="34" charset="0"/>
                <a:ea typeface="Calibri" pitchFamily="34" charset="-122"/>
                <a:cs typeface="Calibri" pitchFamily="34" charset="-120"/>
              </a:rPr>
              <a:t>NEW INPUT 2</a:t>
            </a:r>
            <a:endParaRPr lang="en-US" sz="900" dirty="0"/>
          </a:p>
        </p:txBody>
      </p:sp>
      <p:sp>
        <p:nvSpPr>
          <p:cNvPr id="23" name="Text A2 title"/>
          <p:cNvSpPr/>
          <p:nvPr/>
        </p:nvSpPr>
        <p:spPr>
          <a:xfrm>
            <a:off x="3451860" y="2103120"/>
            <a:ext cx="2240280" cy="365760"/>
          </a:xfrm>
          <a:prstGeom prst="rect">
            <a:avLst/>
          </a:prstGeom>
          <a:noFill/>
          <a:ln/>
        </p:spPr>
        <p:txBody>
          <a:bodyPr wrap="square" lIns="0" tIns="0" rIns="0" bIns="0" rtlCol="0" anchor="ctr"/>
          <a:lstStyle/>
          <a:p>
            <a:pPr marL="0" indent="0">
              <a:buNone/>
            </a:pPr>
            <a:r>
              <a:rPr lang="en-US" sz="1400" b="1" dirty="0">
                <a:solidFill>
                  <a:srgbClr val="232F3E"/>
                </a:solidFill>
                <a:latin typeface="Calibri" pitchFamily="34" charset="0"/>
                <a:ea typeface="Calibri" pitchFamily="34" charset="-122"/>
                <a:cs typeface="Calibri" pitchFamily="34" charset="-120"/>
              </a:rPr>
              <a:t>3-point adoption estimation</a:t>
            </a:r>
            <a:endParaRPr lang="en-US" sz="1400" dirty="0"/>
          </a:p>
        </p:txBody>
      </p:sp>
      <p:sp>
        <p:nvSpPr>
          <p:cNvPr id="24" name="Text A2 body"/>
          <p:cNvSpPr/>
          <p:nvPr/>
        </p:nvSpPr>
        <p:spPr>
          <a:xfrm>
            <a:off x="3451860" y="2560320"/>
            <a:ext cx="2240280" cy="1463040"/>
          </a:xfrm>
          <a:prstGeom prst="rect">
            <a:avLst/>
          </a:prstGeom>
          <a:noFill/>
          <a:ln/>
        </p:spPr>
        <p:txBody>
          <a:bodyPr wrap="square" lIns="0" tIns="0" rIns="0" bIns="0" rtlCol="0" anchor="t"/>
          <a:lstStyle/>
          <a:p>
            <a:pPr marL="0" indent="0">
              <a:lnSpc>
                <a:spcPts val="1300"/>
              </a:lnSpc>
              <a:buNone/>
            </a:pPr>
            <a:r>
              <a:rPr lang="en-US" sz="1000" dirty="0">
                <a:solidFill>
                  <a:srgbClr val="444444"/>
                </a:solidFill>
                <a:latin typeface="Calibri" pitchFamily="34" charset="0"/>
                <a:ea typeface="Calibri" pitchFamily="34" charset="-122"/>
                <a:cs typeface="Calibri" pitchFamily="34" charset="-120"/>
              </a:rPr>
              <a:t>What share of the theoretical value will actually be realized?</a:t>
            </a:r>
            <a:endParaRPr lang="en-US" sz="1000" dirty="0"/>
          </a:p>
          <a:p>
            <a:pPr marL="0" indent="0">
              <a:lnSpc>
                <a:spcPts val="1300"/>
              </a:lnSpc>
              <a:buNone/>
            </a:pPr>
            <a:endParaRPr lang="en-US" sz="600" dirty="0"/>
          </a:p>
          <a:p>
            <a:pPr marL="0" indent="0">
              <a:lnSpc>
                <a:spcPts val="1300"/>
              </a:lnSpc>
              <a:buNone/>
            </a:pPr>
            <a:r>
              <a:rPr lang="en-US" sz="1000" dirty="0">
                <a:solidFill>
                  <a:srgbClr val="444444"/>
                </a:solidFill>
              </a:rPr>
              <a:t>We collect another three-point estimate (pessimistic / likely / optimistic) reflecting:</a:t>
            </a:r>
            <a:endParaRPr lang="en-US" sz="1000" dirty="0"/>
          </a:p>
          <a:p>
            <a:pPr marL="0" indent="0">
              <a:lnSpc>
                <a:spcPts val="1300"/>
              </a:lnSpc>
              <a:buNone/>
            </a:pPr>
            <a:endParaRPr lang="en-US" sz="600" dirty="0"/>
          </a:p>
          <a:p>
            <a:pPr marL="171450" indent="-171450">
              <a:lnSpc>
                <a:spcPts val="1300"/>
              </a:lnSpc>
              <a:buFont typeface="Arial" panose="020B0604020202020204" pitchFamily="34" charset="0"/>
              <a:buChar char="•"/>
            </a:pPr>
            <a:r>
              <a:rPr lang="en-US" sz="1000" dirty="0">
                <a:solidFill>
                  <a:srgbClr val="444444"/>
                </a:solidFill>
              </a:rPr>
              <a:t>Organizational readiness</a:t>
            </a:r>
            <a:endParaRPr lang="en-US" sz="1000" dirty="0"/>
          </a:p>
          <a:p>
            <a:pPr marL="171450" indent="-171450">
              <a:lnSpc>
                <a:spcPts val="1300"/>
              </a:lnSpc>
              <a:buFont typeface="Arial" panose="020B0604020202020204" pitchFamily="34" charset="0"/>
              <a:buChar char="•"/>
            </a:pPr>
            <a:r>
              <a:rPr lang="en-US" sz="1000" dirty="0">
                <a:solidFill>
                  <a:srgbClr val="444444"/>
                </a:solidFill>
              </a:rPr>
              <a:t>Change management capacity</a:t>
            </a:r>
            <a:endParaRPr lang="en-US" sz="1000" dirty="0"/>
          </a:p>
          <a:p>
            <a:pPr marL="171450" indent="-171450">
              <a:lnSpc>
                <a:spcPts val="1300"/>
              </a:lnSpc>
              <a:buFont typeface="Arial" panose="020B0604020202020204" pitchFamily="34" charset="0"/>
              <a:buChar char="•"/>
            </a:pPr>
            <a:r>
              <a:rPr lang="en-US" sz="1000" dirty="0">
                <a:solidFill>
                  <a:srgbClr val="444444"/>
                </a:solidFill>
              </a:rPr>
              <a:t>Integration complexity</a:t>
            </a:r>
            <a:endParaRPr lang="en-US" sz="1000" dirty="0"/>
          </a:p>
          <a:p>
            <a:pPr marL="171450" indent="-171450">
              <a:lnSpc>
                <a:spcPts val="1300"/>
              </a:lnSpc>
              <a:buFont typeface="Arial" panose="020B0604020202020204" pitchFamily="34" charset="0"/>
              <a:buChar char="•"/>
            </a:pPr>
            <a:r>
              <a:rPr lang="en-US" sz="1000" dirty="0">
                <a:solidFill>
                  <a:srgbClr val="444444"/>
                </a:solidFill>
              </a:rPr>
              <a:t>End-user willingness to change workflows</a:t>
            </a:r>
            <a:endParaRPr lang="en-US" sz="1000" dirty="0"/>
          </a:p>
        </p:txBody>
      </p:sp>
      <p:sp>
        <p:nvSpPr>
          <p:cNvPr id="30" name="Shape A3"/>
          <p:cNvSpPr/>
          <p:nvPr/>
        </p:nvSpPr>
        <p:spPr>
          <a:xfrm>
            <a:off x="5989320" y="1737360"/>
            <a:ext cx="2606040" cy="2651760"/>
          </a:xfrm>
          <a:prstGeom prst="roundRect">
            <a:avLst>
              <a:gd name="adj" fmla="val 4500"/>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31" name="Shape A3bar"/>
          <p:cNvSpPr/>
          <p:nvPr/>
        </p:nvSpPr>
        <p:spPr>
          <a:xfrm>
            <a:off x="5989320" y="1737360"/>
            <a:ext cx="54864" cy="2377440"/>
          </a:xfrm>
          <a:prstGeom prst="rect">
            <a:avLst/>
          </a:prstGeom>
          <a:solidFill>
            <a:srgbClr val="146EB4"/>
          </a:solidFill>
          <a:ln/>
        </p:spPr>
        <p:txBody>
          <a:bodyPr/>
          <a:lstStyle/>
          <a:p>
            <a:endParaRPr lang="en-US"/>
          </a:p>
        </p:txBody>
      </p:sp>
      <p:sp>
        <p:nvSpPr>
          <p:cNvPr id="32" name="Text A3 label"/>
          <p:cNvSpPr/>
          <p:nvPr/>
        </p:nvSpPr>
        <p:spPr>
          <a:xfrm>
            <a:off x="6172200" y="1828800"/>
            <a:ext cx="2240280" cy="274320"/>
          </a:xfrm>
          <a:prstGeom prst="rect">
            <a:avLst/>
          </a:prstGeom>
          <a:noFill/>
          <a:ln/>
        </p:spPr>
        <p:txBody>
          <a:bodyPr wrap="square" lIns="0" tIns="0" rIns="0" bIns="0" rtlCol="0" anchor="ctr"/>
          <a:lstStyle/>
          <a:p>
            <a:pPr marL="0" indent="0">
              <a:buNone/>
            </a:pPr>
            <a:r>
              <a:rPr lang="en-US" sz="900" b="1" kern="0" spc="200" dirty="0">
                <a:solidFill>
                  <a:srgbClr val="146EB4"/>
                </a:solidFill>
                <a:latin typeface="Calibri" pitchFamily="34" charset="0"/>
                <a:ea typeface="Calibri" pitchFamily="34" charset="-122"/>
                <a:cs typeface="Calibri" pitchFamily="34" charset="-120"/>
              </a:rPr>
              <a:t>NEW INPUT 3</a:t>
            </a:r>
            <a:endParaRPr lang="en-US" sz="900" dirty="0"/>
          </a:p>
        </p:txBody>
      </p:sp>
      <p:sp>
        <p:nvSpPr>
          <p:cNvPr id="33" name="Text A3 title"/>
          <p:cNvSpPr/>
          <p:nvPr/>
        </p:nvSpPr>
        <p:spPr>
          <a:xfrm>
            <a:off x="6172200" y="2103120"/>
            <a:ext cx="2240280" cy="365760"/>
          </a:xfrm>
          <a:prstGeom prst="rect">
            <a:avLst/>
          </a:prstGeom>
          <a:noFill/>
          <a:ln/>
        </p:spPr>
        <p:txBody>
          <a:bodyPr wrap="square" lIns="0" tIns="0" rIns="0" bIns="0" rtlCol="0" anchor="ctr"/>
          <a:lstStyle/>
          <a:p>
            <a:pPr marL="0" indent="0">
              <a:buNone/>
            </a:pPr>
            <a:r>
              <a:rPr lang="en-US" sz="1400" b="1" dirty="0">
                <a:solidFill>
                  <a:srgbClr val="232F3E"/>
                </a:solidFill>
                <a:latin typeface="Calibri" pitchFamily="34" charset="0"/>
                <a:ea typeface="Calibri" pitchFamily="34" charset="-122"/>
                <a:cs typeface="Calibri" pitchFamily="34" charset="-120"/>
              </a:rPr>
              <a:t>Counterfactual baseline</a:t>
            </a:r>
            <a:endParaRPr lang="en-US" sz="1400" dirty="0"/>
          </a:p>
        </p:txBody>
      </p:sp>
      <p:sp>
        <p:nvSpPr>
          <p:cNvPr id="34" name="Text A3 body"/>
          <p:cNvSpPr/>
          <p:nvPr/>
        </p:nvSpPr>
        <p:spPr>
          <a:xfrm>
            <a:off x="6172200" y="2560320"/>
            <a:ext cx="2240280" cy="1463040"/>
          </a:xfrm>
          <a:prstGeom prst="rect">
            <a:avLst/>
          </a:prstGeom>
          <a:noFill/>
          <a:ln/>
        </p:spPr>
        <p:txBody>
          <a:bodyPr wrap="square" lIns="0" tIns="0" rIns="0" bIns="0" rtlCol="0" anchor="t"/>
          <a:lstStyle/>
          <a:p>
            <a:pPr marL="0" indent="0">
              <a:lnSpc>
                <a:spcPts val="1300"/>
              </a:lnSpc>
              <a:buNone/>
            </a:pPr>
            <a:r>
              <a:rPr lang="en-US" sz="1000" dirty="0">
                <a:solidFill>
                  <a:srgbClr val="444444"/>
                </a:solidFill>
                <a:latin typeface="Calibri" pitchFamily="34" charset="0"/>
                <a:ea typeface="Calibri" pitchFamily="34" charset="-122"/>
                <a:cs typeface="Calibri" pitchFamily="34" charset="-120"/>
              </a:rPr>
              <a:t>Where would the metric naturally land in 12 months </a:t>
            </a:r>
            <a:r>
              <a:rPr lang="en-US" sz="1000" b="1" dirty="0">
                <a:solidFill>
                  <a:srgbClr val="232F3E"/>
                </a:solidFill>
              </a:rPr>
              <a:t>without</a:t>
            </a:r>
            <a:r>
              <a:rPr lang="en-US" sz="1000" dirty="0">
                <a:solidFill>
                  <a:srgbClr val="444444"/>
                </a:solidFill>
              </a:rPr>
              <a:t> the AI initiative?</a:t>
            </a:r>
            <a:endParaRPr lang="en-US" sz="1000" dirty="0"/>
          </a:p>
          <a:p>
            <a:pPr marL="0" indent="0">
              <a:lnSpc>
                <a:spcPts val="1300"/>
              </a:lnSpc>
              <a:buNone/>
            </a:pPr>
            <a:endParaRPr lang="en-US" sz="600" dirty="0"/>
          </a:p>
          <a:p>
            <a:pPr marL="0" indent="0">
              <a:lnSpc>
                <a:spcPts val="1300"/>
              </a:lnSpc>
              <a:buNone/>
            </a:pPr>
            <a:r>
              <a:rPr lang="en-US" sz="1000" dirty="0">
                <a:solidFill>
                  <a:srgbClr val="444444"/>
                </a:solidFill>
              </a:rPr>
              <a:t>We extrapolate the 8-quarter trend with the stakeholder. Only the </a:t>
            </a:r>
            <a:r>
              <a:rPr lang="en-US" sz="1000" b="1" dirty="0">
                <a:solidFill>
                  <a:srgbClr val="232F3E"/>
                </a:solidFill>
              </a:rPr>
              <a:t>AI-attributed</a:t>
            </a:r>
            <a:r>
              <a:rPr lang="en-US" sz="1000" dirty="0">
                <a:solidFill>
                  <a:srgbClr val="444444"/>
                </a:solidFill>
              </a:rPr>
              <a:t> portion counts toward business value.</a:t>
            </a:r>
            <a:endParaRPr lang="en-US" sz="1000" dirty="0"/>
          </a:p>
          <a:p>
            <a:pPr marL="0" indent="0">
              <a:lnSpc>
                <a:spcPts val="1300"/>
              </a:lnSpc>
              <a:buNone/>
            </a:pPr>
            <a:endParaRPr lang="en-US" sz="600" dirty="0"/>
          </a:p>
          <a:p>
            <a:pPr marL="0" indent="0">
              <a:lnSpc>
                <a:spcPts val="1300"/>
              </a:lnSpc>
              <a:buNone/>
            </a:pPr>
            <a:r>
              <a:rPr lang="en-US" sz="1000" i="1" dirty="0">
                <a:solidFill>
                  <a:srgbClr val="666666"/>
                </a:solidFill>
              </a:rPr>
              <a:t>Avoids crediting AI for improvements that would have happened anyway.</a:t>
            </a:r>
            <a:endParaRPr lang="en-US" sz="1000" dirty="0"/>
          </a:p>
        </p:txBody>
      </p:sp>
      <p:sp>
        <p:nvSpPr>
          <p:cNvPr id="40" name="Text Footer text"/>
          <p:cNvSpPr/>
          <p:nvPr/>
        </p:nvSpPr>
        <p:spPr>
          <a:xfrm>
            <a:off x="548640" y="4457700"/>
            <a:ext cx="8229600" cy="320040"/>
          </a:xfrm>
          <a:prstGeom prst="rect">
            <a:avLst/>
          </a:prstGeom>
          <a:noFill/>
          <a:ln/>
        </p:spPr>
        <p:txBody>
          <a:bodyPr wrap="square" lIns="0" tIns="0" rIns="0" bIns="0" rtlCol="0" anchor="ctr"/>
          <a:lstStyle/>
          <a:p>
            <a:pPr marL="0" indent="0">
              <a:buNone/>
            </a:pPr>
            <a:r>
              <a:rPr lang="en-US" sz="1000" i="1" dirty="0">
                <a:solidFill>
                  <a:srgbClr val="666666"/>
                </a:solidFill>
                <a:latin typeface="Calibri" pitchFamily="34" charset="0"/>
                <a:ea typeface="Calibri" pitchFamily="34" charset="-122"/>
                <a:cs typeface="Calibri" pitchFamily="34" charset="-120"/>
              </a:rPr>
              <a:t>Three-point estimates replace false precision with an honest range.</a:t>
            </a:r>
            <a:endParaRPr lang="en-US" sz="1000" dirty="0"/>
          </a:p>
        </p:txBody>
      </p:sp>
      <p:sp>
        <p:nvSpPr>
          <p:cNvPr id="41" name="Text Footer page"/>
          <p:cNvSpPr/>
          <p:nvPr/>
        </p:nvSpPr>
        <p:spPr>
          <a:xfrm>
            <a:off x="457200" y="4846320"/>
            <a:ext cx="8229600" cy="228600"/>
          </a:xfrm>
          <a:prstGeom prst="rect">
            <a:avLst/>
          </a:prstGeom>
          <a:noFill/>
          <a:ln/>
        </p:spPr>
        <p:txBody>
          <a:bodyPr wrap="square" lIns="0" tIns="0" rIns="0" bIns="0" rtlCol="0" anchor="ctr"/>
          <a:lstStyle/>
          <a:p>
            <a:pPr marL="0" indent="0">
              <a:buNone/>
            </a:pPr>
            <a:r>
              <a:rPr lang="en-US" sz="800" dirty="0">
                <a:solidFill>
                  <a:srgbClr val="8899A6"/>
                </a:solidFill>
              </a:rPr>
              <a:t>BVIF  ·  Appendix  ·  12 / 14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274320"/>
            <a:ext cx="4572000" cy="320040"/>
          </a:xfrm>
          <a:prstGeom prst="rect">
            <a:avLst/>
          </a:prstGeom>
          <a:noFill/>
          <a:ln/>
        </p:spPr>
        <p:txBody>
          <a:bodyPr wrap="square" lIns="0" tIns="0" rIns="0" bIns="0" rtlCol="0" anchor="ctr"/>
          <a:lstStyle/>
          <a:p>
            <a:pPr marL="0" indent="0">
              <a:buNone/>
            </a:pPr>
            <a:r>
              <a:rPr lang="en-US" sz="1000" kern="0" spc="300" dirty="0">
                <a:solidFill>
                  <a:srgbClr val="146EB4"/>
                </a:solidFill>
                <a:latin typeface="Calibri" pitchFamily="34" charset="0"/>
                <a:ea typeface="Calibri" pitchFamily="34" charset="-122"/>
                <a:cs typeface="Calibri" pitchFamily="34" charset="-120"/>
              </a:rPr>
              <a:t>APPENDIX  ·  STAGE 6</a:t>
            </a:r>
            <a:endParaRPr lang="en-US" sz="1000" dirty="0"/>
          </a:p>
        </p:txBody>
      </p:sp>
      <p:sp>
        <p:nvSpPr>
          <p:cNvPr id="3" name="Text 1"/>
          <p:cNvSpPr/>
          <p:nvPr/>
        </p:nvSpPr>
        <p:spPr>
          <a:xfrm>
            <a:off x="548640" y="640080"/>
            <a:ext cx="8229600" cy="548640"/>
          </a:xfrm>
          <a:prstGeom prst="rect">
            <a:avLst/>
          </a:prstGeom>
          <a:noFill/>
          <a:ln/>
        </p:spPr>
        <p:txBody>
          <a:bodyPr wrap="square" lIns="0" tIns="0" rIns="0" bIns="0" rtlCol="0" anchor="ctr"/>
          <a:lstStyle/>
          <a:p>
            <a:pPr marL="0" indent="0">
              <a:buNone/>
            </a:pPr>
            <a:r>
              <a:rPr lang="en-US" sz="3000" dirty="0">
                <a:solidFill>
                  <a:srgbClr val="232F3E"/>
                </a:solidFill>
                <a:latin typeface="Calibri" pitchFamily="34" charset="0"/>
                <a:ea typeface="Calibri" pitchFamily="34" charset="-122"/>
                <a:cs typeface="Calibri" pitchFamily="34" charset="-120"/>
              </a:rPr>
              <a:t>Business value calculation: Monte Carlo simulation</a:t>
            </a:r>
            <a:endParaRPr lang="en-US" sz="2400" dirty="0"/>
          </a:p>
        </p:txBody>
      </p:sp>
      <p:sp>
        <p:nvSpPr>
          <p:cNvPr id="4" name="Text intro"/>
          <p:cNvSpPr/>
          <p:nvPr/>
        </p:nvSpPr>
        <p:spPr>
          <a:xfrm>
            <a:off x="548640" y="1234440"/>
            <a:ext cx="8229600" cy="411480"/>
          </a:xfrm>
          <a:prstGeom prst="rect">
            <a:avLst/>
          </a:prstGeom>
          <a:noFill/>
          <a:ln/>
        </p:spPr>
        <p:txBody>
          <a:bodyPr wrap="square" lIns="0" tIns="0" rIns="0" bIns="0" rtlCol="0" anchor="ctr"/>
          <a:lstStyle/>
          <a:p>
            <a:pPr marL="0" indent="0">
              <a:lnSpc>
                <a:spcPts val="1500"/>
              </a:lnSpc>
              <a:buNone/>
            </a:pPr>
            <a:r>
              <a:rPr lang="en-US" sz="1100" dirty="0">
                <a:solidFill>
                  <a:srgbClr val="666666"/>
                </a:solidFill>
                <a:latin typeface="Calibri" pitchFamily="34" charset="0"/>
                <a:ea typeface="Calibri" pitchFamily="34" charset="-122"/>
                <a:cs typeface="Calibri" pitchFamily="34" charset="-120"/>
              </a:rPr>
              <a:t>A single point estimate hides the uncertainty in any AI initiative. Instead of one number, we run the value formula thousands of times with different plausible inputs and read the range of outcomes.</a:t>
            </a:r>
            <a:endParaRPr lang="en-US" sz="1100" dirty="0"/>
          </a:p>
        </p:txBody>
      </p:sp>
      <p:sp>
        <p:nvSpPr>
          <p:cNvPr id="10" name="Step1 circle"/>
          <p:cNvSpPr/>
          <p:nvPr/>
        </p:nvSpPr>
        <p:spPr>
          <a:xfrm>
            <a:off x="548640" y="1828800"/>
            <a:ext cx="365760" cy="365760"/>
          </a:xfrm>
          <a:prstGeom prst="ellipse">
            <a:avLst/>
          </a:prstGeom>
          <a:solidFill>
            <a:srgbClr val="146EB4"/>
          </a:solid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11" name="Step1 title"/>
          <p:cNvSpPr/>
          <p:nvPr/>
        </p:nvSpPr>
        <p:spPr>
          <a:xfrm>
            <a:off x="1005840" y="1828800"/>
            <a:ext cx="3200400" cy="320040"/>
          </a:xfrm>
          <a:prstGeom prst="rect">
            <a:avLst/>
          </a:prstGeom>
          <a:noFill/>
          <a:ln/>
        </p:spPr>
        <p:txBody>
          <a:bodyPr wrap="square" lIns="0" tIns="0" rIns="0" bIns="0" rtlCol="0" anchor="ctr"/>
          <a:lstStyle/>
          <a:p>
            <a:pPr marL="0" indent="0">
              <a:buNone/>
            </a:pPr>
            <a:r>
              <a:rPr lang="en-US" sz="1300" b="1" dirty="0">
                <a:solidFill>
                  <a:srgbClr val="232F3E"/>
                </a:solidFill>
                <a:latin typeface="Calibri" pitchFamily="34" charset="0"/>
                <a:ea typeface="Calibri" pitchFamily="34" charset="-122"/>
                <a:cs typeface="Calibri" pitchFamily="34" charset="-120"/>
              </a:rPr>
              <a:t>Shape the inputs</a:t>
            </a:r>
            <a:endParaRPr lang="en-US" sz="1300" dirty="0"/>
          </a:p>
        </p:txBody>
      </p:sp>
      <p:sp>
        <p:nvSpPr>
          <p:cNvPr id="12" name="Step1 body"/>
          <p:cNvSpPr/>
          <p:nvPr/>
        </p:nvSpPr>
        <p:spPr>
          <a:xfrm>
            <a:off x="1005840" y="2148840"/>
            <a:ext cx="3200400" cy="731520"/>
          </a:xfrm>
          <a:prstGeom prst="rect">
            <a:avLst/>
          </a:prstGeom>
          <a:noFill/>
          <a:ln/>
        </p:spPr>
        <p:txBody>
          <a:bodyPr wrap="square" lIns="0" tIns="0" rIns="0" bIns="0" rtlCol="0" anchor="t"/>
          <a:lstStyle/>
          <a:p>
            <a:pPr marL="0" indent="0">
              <a:lnSpc>
                <a:spcPts val="1300"/>
              </a:lnSpc>
              <a:buNone/>
            </a:pPr>
            <a:r>
              <a:rPr lang="en-US" sz="1000" dirty="0">
                <a:solidFill>
                  <a:srgbClr val="444444"/>
                </a:solidFill>
                <a:latin typeface="Calibri" pitchFamily="34" charset="0"/>
                <a:ea typeface="Calibri" pitchFamily="34" charset="-122"/>
                <a:cs typeface="Calibri" pitchFamily="34" charset="-120"/>
              </a:rPr>
              <a:t>Each three-point estimate becomes a triangular distribution: a triangle peaked at the most-likely value, bounded by the pessimistic (P10) and optimistic (P90) values.</a:t>
            </a:r>
            <a:endParaRPr lang="en-US" sz="1000" dirty="0"/>
          </a:p>
        </p:txBody>
      </p:sp>
      <p:sp>
        <p:nvSpPr>
          <p:cNvPr id="20" name="Step2 circle"/>
          <p:cNvSpPr/>
          <p:nvPr/>
        </p:nvSpPr>
        <p:spPr>
          <a:xfrm>
            <a:off x="4572000" y="1828800"/>
            <a:ext cx="365760" cy="365760"/>
          </a:xfrm>
          <a:prstGeom prst="ellipse">
            <a:avLst/>
          </a:prstGeom>
          <a:solidFill>
            <a:srgbClr val="146EB4"/>
          </a:solid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21" name="Step2 title"/>
          <p:cNvSpPr/>
          <p:nvPr/>
        </p:nvSpPr>
        <p:spPr>
          <a:xfrm>
            <a:off x="5029200" y="1828800"/>
            <a:ext cx="3657600" cy="320040"/>
          </a:xfrm>
          <a:prstGeom prst="rect">
            <a:avLst/>
          </a:prstGeom>
          <a:noFill/>
          <a:ln/>
        </p:spPr>
        <p:txBody>
          <a:bodyPr wrap="square" lIns="0" tIns="0" rIns="0" bIns="0" rtlCol="0" anchor="ctr"/>
          <a:lstStyle/>
          <a:p>
            <a:pPr marL="0" indent="0">
              <a:buNone/>
            </a:pPr>
            <a:r>
              <a:rPr lang="en-US" sz="1300" b="1" dirty="0">
                <a:solidFill>
                  <a:srgbClr val="232F3E"/>
                </a:solidFill>
                <a:latin typeface="Calibri" pitchFamily="34" charset="0"/>
                <a:ea typeface="Calibri" pitchFamily="34" charset="-122"/>
                <a:cs typeface="Calibri" pitchFamily="34" charset="-120"/>
              </a:rPr>
              <a:t>Run 10,000 iterations</a:t>
            </a:r>
            <a:endParaRPr lang="en-US" sz="1300" dirty="0"/>
          </a:p>
        </p:txBody>
      </p:sp>
      <p:sp>
        <p:nvSpPr>
          <p:cNvPr id="22" name="Step2 body"/>
          <p:cNvSpPr/>
          <p:nvPr/>
        </p:nvSpPr>
        <p:spPr>
          <a:xfrm>
            <a:off x="5029200" y="2148840"/>
            <a:ext cx="3657600" cy="731520"/>
          </a:xfrm>
          <a:prstGeom prst="rect">
            <a:avLst/>
          </a:prstGeom>
          <a:noFill/>
          <a:ln/>
        </p:spPr>
        <p:txBody>
          <a:bodyPr wrap="square" lIns="0" tIns="0" rIns="0" bIns="0" rtlCol="0" anchor="t"/>
          <a:lstStyle/>
          <a:p>
            <a:pPr marL="0" indent="0">
              <a:lnSpc>
                <a:spcPts val="1300"/>
              </a:lnSpc>
              <a:buNone/>
            </a:pPr>
            <a:r>
              <a:rPr lang="en-US" sz="1000" dirty="0">
                <a:solidFill>
                  <a:srgbClr val="444444"/>
                </a:solidFill>
                <a:latin typeface="Calibri" pitchFamily="34" charset="0"/>
                <a:ea typeface="Calibri" pitchFamily="34" charset="-122"/>
                <a:cs typeface="Calibri" pitchFamily="34" charset="-120"/>
              </a:rPr>
              <a:t>In each iteration we draw one random value from each input, subtract the counterfactual baseline, then plug the result into the value formula. Values near the most-likely peak come up more often.</a:t>
            </a:r>
            <a:endParaRPr lang="en-US" sz="1000" dirty="0"/>
          </a:p>
        </p:txBody>
      </p:sp>
      <p:sp>
        <p:nvSpPr>
          <p:cNvPr id="30" name="Step3 circle"/>
          <p:cNvSpPr/>
          <p:nvPr/>
        </p:nvSpPr>
        <p:spPr>
          <a:xfrm>
            <a:off x="548640" y="3017520"/>
            <a:ext cx="365760" cy="365760"/>
          </a:xfrm>
          <a:prstGeom prst="ellipse">
            <a:avLst/>
          </a:prstGeom>
          <a:solidFill>
            <a:srgbClr val="146EB4"/>
          </a:solid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31" name="Step3 title"/>
          <p:cNvSpPr/>
          <p:nvPr/>
        </p:nvSpPr>
        <p:spPr>
          <a:xfrm>
            <a:off x="1005840" y="3017520"/>
            <a:ext cx="3200400" cy="320040"/>
          </a:xfrm>
          <a:prstGeom prst="rect">
            <a:avLst/>
          </a:prstGeom>
          <a:noFill/>
          <a:ln/>
        </p:spPr>
        <p:txBody>
          <a:bodyPr wrap="square" lIns="0" tIns="0" rIns="0" bIns="0" rtlCol="0" anchor="ctr"/>
          <a:lstStyle/>
          <a:p>
            <a:pPr marL="0" indent="0">
              <a:buNone/>
            </a:pPr>
            <a:r>
              <a:rPr lang="en-US" sz="1300" b="1" dirty="0">
                <a:solidFill>
                  <a:srgbClr val="232F3E"/>
                </a:solidFill>
                <a:latin typeface="Calibri" pitchFamily="34" charset="0"/>
                <a:ea typeface="Calibri" pitchFamily="34" charset="-122"/>
                <a:cs typeface="Calibri" pitchFamily="34" charset="-120"/>
              </a:rPr>
              <a:t>Read the range</a:t>
            </a:r>
            <a:endParaRPr lang="en-US" sz="1300" dirty="0"/>
          </a:p>
        </p:txBody>
      </p:sp>
      <p:sp>
        <p:nvSpPr>
          <p:cNvPr id="32" name="Step3 body"/>
          <p:cNvSpPr/>
          <p:nvPr/>
        </p:nvSpPr>
        <p:spPr>
          <a:xfrm>
            <a:off x="1005840" y="3337560"/>
            <a:ext cx="3200400" cy="822960"/>
          </a:xfrm>
          <a:prstGeom prst="rect">
            <a:avLst/>
          </a:prstGeom>
          <a:noFill/>
          <a:ln/>
        </p:spPr>
        <p:txBody>
          <a:bodyPr wrap="square" lIns="0" tIns="0" rIns="0" bIns="0" rtlCol="0" anchor="t"/>
          <a:lstStyle/>
          <a:p>
            <a:pPr marL="0" indent="0">
              <a:lnSpc>
                <a:spcPts val="1300"/>
              </a:lnSpc>
              <a:buNone/>
            </a:pPr>
            <a:r>
              <a:rPr lang="en-US" sz="1000" dirty="0">
                <a:solidFill>
                  <a:srgbClr val="444444"/>
                </a:solidFill>
                <a:latin typeface="Calibri" pitchFamily="34" charset="0"/>
                <a:ea typeface="Calibri" pitchFamily="34" charset="-122"/>
                <a:cs typeface="Calibri" pitchFamily="34" charset="-120"/>
              </a:rPr>
              <a:t>From the 10,000 outcomes we read three percentiles:</a:t>
            </a:r>
            <a:endParaRPr lang="en-US" sz="1000" dirty="0"/>
          </a:p>
          <a:p>
            <a:pPr marL="171450" indent="-171450">
              <a:lnSpc>
                <a:spcPts val="1300"/>
              </a:lnSpc>
              <a:buFont typeface="Arial" panose="020B0604020202020204" pitchFamily="34" charset="0"/>
              <a:buChar char="•"/>
            </a:pPr>
            <a:r>
              <a:rPr lang="en-US" sz="1000" b="1" dirty="0">
                <a:solidFill>
                  <a:srgbClr val="146EB4"/>
                </a:solidFill>
              </a:rPr>
              <a:t>P10</a:t>
            </a:r>
            <a:r>
              <a:rPr lang="en-US" sz="1000" dirty="0">
                <a:solidFill>
                  <a:srgbClr val="444444"/>
                </a:solidFill>
              </a:rPr>
              <a:t>  conservative floor</a:t>
            </a:r>
            <a:endParaRPr lang="en-US" sz="1000" dirty="0"/>
          </a:p>
          <a:p>
            <a:pPr marL="171450" indent="-171450">
              <a:lnSpc>
                <a:spcPts val="1300"/>
              </a:lnSpc>
              <a:buFont typeface="Arial" panose="020B0604020202020204" pitchFamily="34" charset="0"/>
              <a:buChar char="•"/>
            </a:pPr>
            <a:r>
              <a:rPr lang="en-US" sz="1000" b="1" dirty="0">
                <a:solidFill>
                  <a:srgbClr val="146EB4"/>
                </a:solidFill>
              </a:rPr>
              <a:t>P50</a:t>
            </a:r>
            <a:r>
              <a:rPr lang="en-US" sz="1000" dirty="0">
                <a:solidFill>
                  <a:srgbClr val="444444"/>
                </a:solidFill>
              </a:rPr>
              <a:t>  median outcome</a:t>
            </a:r>
            <a:endParaRPr lang="en-US" sz="1000" dirty="0"/>
          </a:p>
          <a:p>
            <a:pPr marL="171450" indent="-171450">
              <a:lnSpc>
                <a:spcPts val="1300"/>
              </a:lnSpc>
              <a:buFont typeface="Arial" panose="020B0604020202020204" pitchFamily="34" charset="0"/>
              <a:buChar char="•"/>
            </a:pPr>
            <a:r>
              <a:rPr lang="en-US" sz="1000" b="1" dirty="0">
                <a:solidFill>
                  <a:srgbClr val="146EB4"/>
                </a:solidFill>
              </a:rPr>
              <a:t>P90</a:t>
            </a:r>
            <a:r>
              <a:rPr lang="en-US" sz="1000" dirty="0">
                <a:solidFill>
                  <a:srgbClr val="444444"/>
                </a:solidFill>
              </a:rPr>
              <a:t>  optimistic ceiling</a:t>
            </a:r>
            <a:endParaRPr lang="en-US" sz="1000" dirty="0"/>
          </a:p>
        </p:txBody>
      </p:sp>
      <p:sp>
        <p:nvSpPr>
          <p:cNvPr id="40" name="Step4 circle"/>
          <p:cNvSpPr/>
          <p:nvPr/>
        </p:nvSpPr>
        <p:spPr>
          <a:xfrm>
            <a:off x="4572000" y="3017520"/>
            <a:ext cx="365760" cy="365760"/>
          </a:xfrm>
          <a:prstGeom prst="ellipse">
            <a:avLst/>
          </a:prstGeom>
          <a:solidFill>
            <a:srgbClr val="FF9900"/>
          </a:solidFill>
          <a:ln/>
        </p:spPr>
        <p:txBody>
          <a:bodyPr wrap="square" lIns="0" tIns="0" rIns="0" bIns="0" rtlCol="0" anchor="ctr"/>
          <a:lstStyle/>
          <a:p>
            <a:pPr marL="0" indent="0" algn="ctr">
              <a:buNone/>
            </a:pPr>
            <a:r>
              <a:rPr lang="en-US" sz="1200" b="1" dirty="0">
                <a:solidFill>
                  <a:srgbClr val="232F3E"/>
                </a:solidFill>
              </a:rPr>
              <a:t>4</a:t>
            </a:r>
            <a:endParaRPr lang="en-US" sz="1200" dirty="0"/>
          </a:p>
        </p:txBody>
      </p:sp>
      <p:sp>
        <p:nvSpPr>
          <p:cNvPr id="41" name="Step4 title"/>
          <p:cNvSpPr/>
          <p:nvPr/>
        </p:nvSpPr>
        <p:spPr>
          <a:xfrm>
            <a:off x="5029200" y="3017520"/>
            <a:ext cx="3657600" cy="320040"/>
          </a:xfrm>
          <a:prstGeom prst="rect">
            <a:avLst/>
          </a:prstGeom>
          <a:noFill/>
          <a:ln/>
        </p:spPr>
        <p:txBody>
          <a:bodyPr wrap="square" lIns="0" tIns="0" rIns="0" bIns="0" rtlCol="0" anchor="ctr"/>
          <a:lstStyle/>
          <a:p>
            <a:pPr marL="0" indent="0">
              <a:buNone/>
            </a:pPr>
            <a:r>
              <a:rPr lang="en-US" sz="1300" b="1" dirty="0">
                <a:solidFill>
                  <a:srgbClr val="232F3E"/>
                </a:solidFill>
                <a:latin typeface="Calibri" pitchFamily="34" charset="0"/>
                <a:ea typeface="Calibri" pitchFamily="34" charset="-122"/>
                <a:cs typeface="Calibri" pitchFamily="34" charset="-120"/>
              </a:rPr>
              <a:t>Find the levers</a:t>
            </a:r>
            <a:endParaRPr lang="en-US" sz="1300" dirty="0"/>
          </a:p>
        </p:txBody>
      </p:sp>
      <p:sp>
        <p:nvSpPr>
          <p:cNvPr id="42" name="Step4 body"/>
          <p:cNvSpPr/>
          <p:nvPr/>
        </p:nvSpPr>
        <p:spPr>
          <a:xfrm>
            <a:off x="5029200" y="3337560"/>
            <a:ext cx="3657600" cy="822960"/>
          </a:xfrm>
          <a:prstGeom prst="rect">
            <a:avLst/>
          </a:prstGeom>
          <a:noFill/>
          <a:ln/>
        </p:spPr>
        <p:txBody>
          <a:bodyPr wrap="square" lIns="0" tIns="0" rIns="0" bIns="0" rtlCol="0" anchor="t"/>
          <a:lstStyle/>
          <a:p>
            <a:pPr marL="0" indent="0">
              <a:lnSpc>
                <a:spcPts val="1300"/>
              </a:lnSpc>
              <a:buNone/>
            </a:pPr>
            <a:r>
              <a:rPr lang="en-US" sz="1000" dirty="0">
                <a:solidFill>
                  <a:srgbClr val="444444"/>
                </a:solidFill>
                <a:latin typeface="Calibri" pitchFamily="34" charset="0"/>
                <a:ea typeface="Calibri" pitchFamily="34" charset="-122"/>
                <a:cs typeface="Calibri" pitchFamily="34" charset="-120"/>
              </a:rPr>
              <a:t>A sensitivity analysis ranks each input by how much it drives the variance in the result — so we know which assumptions matter most and where to focus effort to narrow the range or move the median up.</a:t>
            </a:r>
            <a:endParaRPr lang="en-US" sz="1000" dirty="0"/>
          </a:p>
        </p:txBody>
      </p:sp>
      <p:sp>
        <p:nvSpPr>
          <p:cNvPr id="50" name="Footer band"/>
          <p:cNvSpPr/>
          <p:nvPr/>
        </p:nvSpPr>
        <p:spPr>
          <a:xfrm>
            <a:off x="548640" y="4297680"/>
            <a:ext cx="8229600" cy="411480"/>
          </a:xfrm>
          <a:prstGeom prst="roundRect">
            <a:avLst>
              <a:gd name="adj" fmla="val 12500"/>
            </a:avLst>
          </a:prstGeom>
          <a:solidFill>
            <a:srgbClr val="232F3E"/>
          </a:solidFill>
          <a:ln/>
        </p:spPr>
        <p:txBody>
          <a:bodyPr wrap="square" lIns="91440" tIns="45720" rIns="91440" bIns="4572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Output:  </a:t>
            </a:r>
            <a:r>
              <a:rPr lang="en-US" sz="1100" b="1" dirty="0">
                <a:solidFill>
                  <a:srgbClr val="FF9900"/>
                </a:solidFill>
                <a:latin typeface="Calibri" pitchFamily="34" charset="0"/>
                <a:ea typeface="Calibri" pitchFamily="34" charset="-122"/>
                <a:cs typeface="Calibri" pitchFamily="34" charset="-120"/>
              </a:rPr>
              <a:t>annualized business value as a P10 / P50 / P90 range</a:t>
            </a:r>
            <a:r>
              <a:rPr lang="en-US" sz="1100" dirty="0">
                <a:solidFill>
                  <a:srgbClr val="FFFFFF"/>
                </a:solidFill>
                <a:latin typeface="Calibri" pitchFamily="34" charset="0"/>
                <a:ea typeface="Calibri" pitchFamily="34" charset="-122"/>
                <a:cs typeface="Calibri" pitchFamily="34" charset="-120"/>
              </a:rPr>
              <a:t>, with the levers that drive it</a:t>
            </a:r>
            <a:endParaRPr lang="en-US" sz="1100" dirty="0"/>
          </a:p>
        </p:txBody>
      </p:sp>
      <p:sp>
        <p:nvSpPr>
          <p:cNvPr id="51" name="Text Footer page"/>
          <p:cNvSpPr/>
          <p:nvPr/>
        </p:nvSpPr>
        <p:spPr>
          <a:xfrm>
            <a:off x="457200" y="4846320"/>
            <a:ext cx="8229600" cy="228600"/>
          </a:xfrm>
          <a:prstGeom prst="rect">
            <a:avLst/>
          </a:prstGeom>
          <a:noFill/>
          <a:ln/>
        </p:spPr>
        <p:txBody>
          <a:bodyPr wrap="square" lIns="0" tIns="0" rIns="0" bIns="0" rtlCol="0" anchor="ctr"/>
          <a:lstStyle/>
          <a:p>
            <a:pPr marL="0" indent="0">
              <a:buNone/>
            </a:pPr>
            <a:r>
              <a:rPr lang="en-US" sz="800" dirty="0">
                <a:solidFill>
                  <a:srgbClr val="8899A6"/>
                </a:solidFill>
              </a:rPr>
              <a:t>BVIF  ·  Appendix  ·  13 / 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274320"/>
            <a:ext cx="4572000" cy="320040"/>
          </a:xfrm>
          <a:prstGeom prst="rect">
            <a:avLst/>
          </a:prstGeom>
          <a:noFill/>
          <a:ln/>
        </p:spPr>
        <p:txBody>
          <a:bodyPr wrap="square" lIns="0" tIns="0" rIns="0" bIns="0" rtlCol="0" anchor="ctr"/>
          <a:lstStyle/>
          <a:p>
            <a:pPr marL="0" indent="0">
              <a:buNone/>
            </a:pPr>
            <a:r>
              <a:rPr lang="en-US" sz="1000" kern="0" spc="300" dirty="0">
                <a:solidFill>
                  <a:srgbClr val="146EB4"/>
                </a:solidFill>
                <a:latin typeface="Calibri" pitchFamily="34" charset="0"/>
                <a:ea typeface="Calibri" pitchFamily="34" charset="-122"/>
                <a:cs typeface="Calibri" pitchFamily="34" charset="-120"/>
              </a:rPr>
              <a:t>APPENDIX  ·  STAGE 7</a:t>
            </a:r>
            <a:endParaRPr lang="en-US" sz="1000" dirty="0"/>
          </a:p>
        </p:txBody>
      </p:sp>
      <p:sp>
        <p:nvSpPr>
          <p:cNvPr id="3" name="Text 1"/>
          <p:cNvSpPr/>
          <p:nvPr/>
        </p:nvSpPr>
        <p:spPr>
          <a:xfrm>
            <a:off x="548640" y="640080"/>
            <a:ext cx="8229600" cy="548640"/>
          </a:xfrm>
          <a:prstGeom prst="rect">
            <a:avLst/>
          </a:prstGeom>
          <a:noFill/>
          <a:ln/>
        </p:spPr>
        <p:txBody>
          <a:bodyPr wrap="square" lIns="0" tIns="0" rIns="0" bIns="0" rtlCol="0" anchor="ctr"/>
          <a:lstStyle/>
          <a:p>
            <a:pPr marL="0" indent="0">
              <a:buNone/>
            </a:pPr>
            <a:r>
              <a:rPr lang="en-US" sz="3000" dirty="0">
                <a:solidFill>
                  <a:srgbClr val="232F3E"/>
                </a:solidFill>
                <a:latin typeface="Calibri" pitchFamily="34" charset="0"/>
                <a:ea typeface="Calibri" pitchFamily="34" charset="-122"/>
                <a:cs typeface="Calibri" pitchFamily="34" charset="-120"/>
              </a:rPr>
              <a:t>Final results:</a:t>
            </a:r>
            <a:endParaRPr lang="en-US" sz="3000" dirty="0"/>
          </a:p>
        </p:txBody>
      </p:sp>
      <p:sp>
        <p:nvSpPr>
          <p:cNvPr id="4" name="Intro"/>
          <p:cNvSpPr/>
          <p:nvPr/>
        </p:nvSpPr>
        <p:spPr>
          <a:xfrm>
            <a:off x="548640" y="1234440"/>
            <a:ext cx="8229600" cy="32004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The final report consolidates everything we built in stages 1–6 into actionable outputs:</a:t>
            </a:r>
            <a:endParaRPr lang="en-US" sz="1100" dirty="0"/>
          </a:p>
        </p:txBody>
      </p:sp>
      <p:sp>
        <p:nvSpPr>
          <p:cNvPr id="10" name="Item1 num"/>
          <p:cNvSpPr/>
          <p:nvPr/>
        </p:nvSpPr>
        <p:spPr>
          <a:xfrm>
            <a:off x="548640" y="1737360"/>
            <a:ext cx="365760" cy="365760"/>
          </a:xfrm>
          <a:prstGeom prst="ellipse">
            <a:avLst/>
          </a:prstGeom>
          <a:solidFill>
            <a:srgbClr val="146EB4"/>
          </a:solid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11" name="Item1 title"/>
          <p:cNvSpPr/>
          <p:nvPr/>
        </p:nvSpPr>
        <p:spPr>
          <a:xfrm>
            <a:off x="1005840" y="1737360"/>
            <a:ext cx="3200400" cy="320040"/>
          </a:xfrm>
          <a:prstGeom prst="rect">
            <a:avLst/>
          </a:prstGeom>
          <a:noFill/>
          <a:ln/>
        </p:spPr>
        <p:txBody>
          <a:bodyPr wrap="square" lIns="0" tIns="0" rIns="0" bIns="0" rtlCol="0" anchor="ctr"/>
          <a:lstStyle/>
          <a:p>
            <a:pPr marL="0" indent="0">
              <a:buNone/>
            </a:pPr>
            <a:r>
              <a:rPr lang="en-US" sz="1200" b="1" dirty="0">
                <a:solidFill>
                  <a:srgbClr val="232F3E"/>
                </a:solidFill>
                <a:latin typeface="Calibri" pitchFamily="34" charset="0"/>
                <a:ea typeface="Calibri" pitchFamily="34" charset="-122"/>
                <a:cs typeface="Calibri" pitchFamily="34" charset="-120"/>
              </a:rPr>
              <a:t>Total annualized value (range)</a:t>
            </a:r>
            <a:endParaRPr lang="en-US" sz="1200" dirty="0"/>
          </a:p>
        </p:txBody>
      </p:sp>
      <p:sp>
        <p:nvSpPr>
          <p:cNvPr id="12" name="Item1 body"/>
          <p:cNvSpPr/>
          <p:nvPr/>
        </p:nvSpPr>
        <p:spPr>
          <a:xfrm>
            <a:off x="1005840" y="2057400"/>
            <a:ext cx="3200400" cy="411480"/>
          </a:xfrm>
          <a:prstGeom prst="rect">
            <a:avLst/>
          </a:prstGeom>
          <a:noFill/>
          <a:ln/>
        </p:spPr>
        <p:txBody>
          <a:bodyPr wrap="square" lIns="0" tIns="0" rIns="0" bIns="0" rtlCol="0" anchor="t"/>
          <a:lstStyle/>
          <a:p>
            <a:pPr marL="0" indent="0">
              <a:lnSpc>
                <a:spcPts val="1300"/>
              </a:lnSpc>
              <a:buNone/>
            </a:pPr>
            <a:r>
              <a:rPr lang="en-US" sz="1000" dirty="0">
                <a:solidFill>
                  <a:srgbClr val="444444"/>
                </a:solidFill>
                <a:latin typeface="Calibri" pitchFamily="34" charset="0"/>
                <a:ea typeface="Calibri" pitchFamily="34" charset="-122"/>
                <a:cs typeface="Calibri" pitchFamily="34" charset="-120"/>
              </a:rPr>
              <a:t>P10 / P50 / P90 plus the 80% confidence interval (P10–P90).</a:t>
            </a:r>
            <a:endParaRPr lang="en-US" sz="1000" dirty="0"/>
          </a:p>
        </p:txBody>
      </p:sp>
      <p:sp>
        <p:nvSpPr>
          <p:cNvPr id="20" name="Item2 num"/>
          <p:cNvSpPr/>
          <p:nvPr/>
        </p:nvSpPr>
        <p:spPr>
          <a:xfrm>
            <a:off x="4572000" y="1737360"/>
            <a:ext cx="365760" cy="365760"/>
          </a:xfrm>
          <a:prstGeom prst="ellipse">
            <a:avLst/>
          </a:prstGeom>
          <a:solidFill>
            <a:srgbClr val="146EB4"/>
          </a:solid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21" name="Item2 title"/>
          <p:cNvSpPr/>
          <p:nvPr/>
        </p:nvSpPr>
        <p:spPr>
          <a:xfrm>
            <a:off x="5029200" y="1737360"/>
            <a:ext cx="3657600" cy="320040"/>
          </a:xfrm>
          <a:prstGeom prst="rect">
            <a:avLst/>
          </a:prstGeom>
          <a:noFill/>
          <a:ln/>
        </p:spPr>
        <p:txBody>
          <a:bodyPr wrap="square" lIns="0" tIns="0" rIns="0" bIns="0" rtlCol="0" anchor="ctr"/>
          <a:lstStyle/>
          <a:p>
            <a:pPr marL="0" indent="0">
              <a:buNone/>
            </a:pPr>
            <a:r>
              <a:rPr lang="en-US" sz="1200" b="1" dirty="0">
                <a:solidFill>
                  <a:srgbClr val="232F3E"/>
                </a:solidFill>
                <a:latin typeface="Calibri" pitchFamily="34" charset="0"/>
                <a:ea typeface="Calibri" pitchFamily="34" charset="-122"/>
                <a:cs typeface="Calibri" pitchFamily="34" charset="-120"/>
              </a:rPr>
              <a:t>Per-metric breakdown</a:t>
            </a:r>
            <a:endParaRPr lang="en-US" sz="1200" dirty="0"/>
          </a:p>
        </p:txBody>
      </p:sp>
      <p:sp>
        <p:nvSpPr>
          <p:cNvPr id="22" name="Item2 body"/>
          <p:cNvSpPr/>
          <p:nvPr/>
        </p:nvSpPr>
        <p:spPr>
          <a:xfrm>
            <a:off x="5029200" y="2057400"/>
            <a:ext cx="3657600" cy="411480"/>
          </a:xfrm>
          <a:prstGeom prst="rect">
            <a:avLst/>
          </a:prstGeom>
          <a:noFill/>
          <a:ln/>
        </p:spPr>
        <p:txBody>
          <a:bodyPr wrap="square" lIns="0" tIns="0" rIns="0" bIns="0" rtlCol="0" anchor="t"/>
          <a:lstStyle/>
          <a:p>
            <a:pPr marL="0" indent="0">
              <a:lnSpc>
                <a:spcPts val="1300"/>
              </a:lnSpc>
              <a:buNone/>
            </a:pPr>
            <a:r>
              <a:rPr lang="en-US" sz="1000" dirty="0">
                <a:solidFill>
                  <a:srgbClr val="444444"/>
                </a:solidFill>
                <a:latin typeface="Calibri" pitchFamily="34" charset="0"/>
                <a:ea typeface="Calibri" pitchFamily="34" charset="-122"/>
                <a:cs typeface="Calibri" pitchFamily="34" charset="-120"/>
              </a:rPr>
              <a:t>Each metric with its own range, value driver, and source attribution.</a:t>
            </a:r>
            <a:endParaRPr lang="en-US" sz="1000" dirty="0"/>
          </a:p>
        </p:txBody>
      </p:sp>
      <p:sp>
        <p:nvSpPr>
          <p:cNvPr id="30" name="Item3 num"/>
          <p:cNvSpPr/>
          <p:nvPr/>
        </p:nvSpPr>
        <p:spPr>
          <a:xfrm>
            <a:off x="548640" y="2606040"/>
            <a:ext cx="365760" cy="365760"/>
          </a:xfrm>
          <a:prstGeom prst="ellipse">
            <a:avLst/>
          </a:prstGeom>
          <a:solidFill>
            <a:srgbClr val="146EB4"/>
          </a:solid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31" name="Item3 title"/>
          <p:cNvSpPr/>
          <p:nvPr/>
        </p:nvSpPr>
        <p:spPr>
          <a:xfrm>
            <a:off x="1005840" y="2606040"/>
            <a:ext cx="3200400" cy="320040"/>
          </a:xfrm>
          <a:prstGeom prst="rect">
            <a:avLst/>
          </a:prstGeom>
          <a:noFill/>
          <a:ln/>
        </p:spPr>
        <p:txBody>
          <a:bodyPr wrap="square" lIns="0" tIns="0" rIns="0" bIns="0" rtlCol="0" anchor="ctr"/>
          <a:lstStyle/>
          <a:p>
            <a:pPr marL="0" indent="0">
              <a:buNone/>
            </a:pPr>
            <a:r>
              <a:rPr lang="en-US" sz="1200" b="1" dirty="0">
                <a:solidFill>
                  <a:srgbClr val="232F3E"/>
                </a:solidFill>
                <a:latin typeface="Calibri" pitchFamily="34" charset="0"/>
                <a:ea typeface="Calibri" pitchFamily="34" charset="-122"/>
                <a:cs typeface="Calibri" pitchFamily="34" charset="-120"/>
              </a:rPr>
              <a:t>Sensitivity analysis</a:t>
            </a:r>
            <a:endParaRPr lang="en-US" sz="1200" dirty="0"/>
          </a:p>
        </p:txBody>
      </p:sp>
      <p:sp>
        <p:nvSpPr>
          <p:cNvPr id="32" name="Item3 body"/>
          <p:cNvSpPr/>
          <p:nvPr/>
        </p:nvSpPr>
        <p:spPr>
          <a:xfrm>
            <a:off x="1005840" y="2926080"/>
            <a:ext cx="3200400" cy="411480"/>
          </a:xfrm>
          <a:prstGeom prst="rect">
            <a:avLst/>
          </a:prstGeom>
          <a:noFill/>
          <a:ln/>
        </p:spPr>
        <p:txBody>
          <a:bodyPr wrap="square" lIns="0" tIns="0" rIns="0" bIns="0" rtlCol="0" anchor="t"/>
          <a:lstStyle/>
          <a:p>
            <a:pPr marL="0" indent="0">
              <a:lnSpc>
                <a:spcPts val="1300"/>
              </a:lnSpc>
              <a:buNone/>
            </a:pPr>
            <a:r>
              <a:rPr lang="en-US" sz="1000" dirty="0">
                <a:solidFill>
                  <a:srgbClr val="444444"/>
                </a:solidFill>
                <a:latin typeface="Calibri" pitchFamily="34" charset="0"/>
                <a:ea typeface="Calibri" pitchFamily="34" charset="-122"/>
                <a:cs typeface="Calibri" pitchFamily="34" charset="-120"/>
              </a:rPr>
              <a:t>Inputs ranked by how much their uncertainty drives the output variance.</a:t>
            </a:r>
            <a:endParaRPr lang="en-US" sz="1000" dirty="0"/>
          </a:p>
        </p:txBody>
      </p:sp>
      <p:sp>
        <p:nvSpPr>
          <p:cNvPr id="40" name="Item4 num"/>
          <p:cNvSpPr/>
          <p:nvPr/>
        </p:nvSpPr>
        <p:spPr>
          <a:xfrm>
            <a:off x="4572000" y="2606040"/>
            <a:ext cx="365760" cy="365760"/>
          </a:xfrm>
          <a:prstGeom prst="ellipse">
            <a:avLst/>
          </a:prstGeom>
          <a:solidFill>
            <a:srgbClr val="146EB4"/>
          </a:solid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41" name="Item4 title"/>
          <p:cNvSpPr/>
          <p:nvPr/>
        </p:nvSpPr>
        <p:spPr>
          <a:xfrm>
            <a:off x="5029200" y="2606040"/>
            <a:ext cx="3657600" cy="320040"/>
          </a:xfrm>
          <a:prstGeom prst="rect">
            <a:avLst/>
          </a:prstGeom>
          <a:noFill/>
          <a:ln/>
        </p:spPr>
        <p:txBody>
          <a:bodyPr wrap="square" lIns="0" tIns="0" rIns="0" bIns="0" rtlCol="0" anchor="ctr"/>
          <a:lstStyle/>
          <a:p>
            <a:pPr marL="0" indent="0">
              <a:buNone/>
            </a:pPr>
            <a:r>
              <a:rPr lang="en-US" sz="1200" b="1" dirty="0">
                <a:solidFill>
                  <a:srgbClr val="232F3E"/>
                </a:solidFill>
                <a:latin typeface="Calibri" pitchFamily="34" charset="0"/>
                <a:ea typeface="Calibri" pitchFamily="34" charset="-122"/>
                <a:cs typeface="Calibri" pitchFamily="34" charset="-120"/>
              </a:rPr>
              <a:t>Levers of influence</a:t>
            </a:r>
            <a:endParaRPr lang="en-US" sz="1200" dirty="0"/>
          </a:p>
        </p:txBody>
      </p:sp>
      <p:sp>
        <p:nvSpPr>
          <p:cNvPr id="42" name="Item4 body"/>
          <p:cNvSpPr/>
          <p:nvPr/>
        </p:nvSpPr>
        <p:spPr>
          <a:xfrm>
            <a:off x="5029200" y="2926080"/>
            <a:ext cx="3657600" cy="411480"/>
          </a:xfrm>
          <a:prstGeom prst="rect">
            <a:avLst/>
          </a:prstGeom>
          <a:noFill/>
          <a:ln/>
        </p:spPr>
        <p:txBody>
          <a:bodyPr wrap="square" lIns="0" tIns="0" rIns="0" bIns="0" rtlCol="0" anchor="t"/>
          <a:lstStyle/>
          <a:p>
            <a:pPr marL="0" indent="0">
              <a:lnSpc>
                <a:spcPts val="1300"/>
              </a:lnSpc>
              <a:buNone/>
            </a:pPr>
            <a:r>
              <a:rPr lang="en-US" sz="1000" dirty="0">
                <a:solidFill>
                  <a:srgbClr val="444444"/>
                </a:solidFill>
                <a:latin typeface="Calibri" pitchFamily="34" charset="0"/>
                <a:ea typeface="Calibri" pitchFamily="34" charset="-122"/>
                <a:cs typeface="Calibri" pitchFamily="34" charset="-120"/>
              </a:rPr>
              <a:t>For high-driver inputs: controllability assessment and concrete recommendations.</a:t>
            </a:r>
            <a:endParaRPr lang="en-US" sz="1000" dirty="0"/>
          </a:p>
        </p:txBody>
      </p:sp>
      <p:sp>
        <p:nvSpPr>
          <p:cNvPr id="50" name="Item5 num"/>
          <p:cNvSpPr/>
          <p:nvPr/>
        </p:nvSpPr>
        <p:spPr>
          <a:xfrm>
            <a:off x="548640" y="3474720"/>
            <a:ext cx="365760" cy="365760"/>
          </a:xfrm>
          <a:prstGeom prst="ellipse">
            <a:avLst/>
          </a:prstGeom>
          <a:solidFill>
            <a:srgbClr val="146EB4"/>
          </a:solid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51" name="Item5 title"/>
          <p:cNvSpPr/>
          <p:nvPr/>
        </p:nvSpPr>
        <p:spPr>
          <a:xfrm>
            <a:off x="1005840" y="3474720"/>
            <a:ext cx="3200400" cy="320040"/>
          </a:xfrm>
          <a:prstGeom prst="rect">
            <a:avLst/>
          </a:prstGeom>
          <a:noFill/>
          <a:ln/>
        </p:spPr>
        <p:txBody>
          <a:bodyPr wrap="square" lIns="0" tIns="0" rIns="0" bIns="0" rtlCol="0" anchor="ctr"/>
          <a:lstStyle/>
          <a:p>
            <a:pPr marL="0" indent="0">
              <a:buNone/>
            </a:pPr>
            <a:r>
              <a:rPr lang="en-US" sz="1200" b="1" dirty="0">
                <a:solidFill>
                  <a:srgbClr val="232F3E"/>
                </a:solidFill>
                <a:latin typeface="Calibri" pitchFamily="34" charset="0"/>
                <a:ea typeface="Calibri" pitchFamily="34" charset="-122"/>
                <a:cs typeface="Calibri" pitchFamily="34" charset="-120"/>
              </a:rPr>
              <a:t>Counterfactual adjustment</a:t>
            </a:r>
            <a:endParaRPr lang="en-US" sz="1200" dirty="0"/>
          </a:p>
        </p:txBody>
      </p:sp>
      <p:sp>
        <p:nvSpPr>
          <p:cNvPr id="52" name="Item5 body"/>
          <p:cNvSpPr/>
          <p:nvPr/>
        </p:nvSpPr>
        <p:spPr>
          <a:xfrm>
            <a:off x="1005840" y="3794760"/>
            <a:ext cx="3200400" cy="411480"/>
          </a:xfrm>
          <a:prstGeom prst="rect">
            <a:avLst/>
          </a:prstGeom>
          <a:noFill/>
          <a:ln/>
        </p:spPr>
        <p:txBody>
          <a:bodyPr wrap="square" lIns="0" tIns="0" rIns="0" bIns="0" rtlCol="0" anchor="t"/>
          <a:lstStyle/>
          <a:p>
            <a:pPr marL="0" indent="0">
              <a:lnSpc>
                <a:spcPts val="1300"/>
              </a:lnSpc>
              <a:buNone/>
            </a:pPr>
            <a:r>
              <a:rPr lang="en-US" sz="1000" dirty="0">
                <a:solidFill>
                  <a:srgbClr val="444444"/>
                </a:solidFill>
                <a:latin typeface="Calibri" pitchFamily="34" charset="0"/>
                <a:ea typeface="Calibri" pitchFamily="34" charset="-122"/>
                <a:cs typeface="Calibri" pitchFamily="34" charset="-120"/>
              </a:rPr>
              <a:t>How much improvement is organic vs. AI-attributed, made transparent.</a:t>
            </a:r>
            <a:endParaRPr lang="en-US" sz="1000" dirty="0"/>
          </a:p>
        </p:txBody>
      </p:sp>
      <p:sp>
        <p:nvSpPr>
          <p:cNvPr id="60" name="Item6 num"/>
          <p:cNvSpPr/>
          <p:nvPr/>
        </p:nvSpPr>
        <p:spPr>
          <a:xfrm>
            <a:off x="4572000" y="3474720"/>
            <a:ext cx="365760" cy="365760"/>
          </a:xfrm>
          <a:prstGeom prst="ellipse">
            <a:avLst/>
          </a:prstGeom>
          <a:solidFill>
            <a:srgbClr val="FF9900"/>
          </a:solidFill>
          <a:ln/>
        </p:spPr>
        <p:txBody>
          <a:bodyPr wrap="square" lIns="0" tIns="0" rIns="0" bIns="0" rtlCol="0" anchor="ctr"/>
          <a:lstStyle/>
          <a:p>
            <a:pPr marL="0" indent="0" algn="ctr">
              <a:buNone/>
            </a:pPr>
            <a:r>
              <a:rPr lang="en-US" sz="1200" b="1" dirty="0">
                <a:solidFill>
                  <a:srgbClr val="232F3E"/>
                </a:solidFill>
              </a:rPr>
              <a:t>6</a:t>
            </a:r>
            <a:endParaRPr lang="en-US" sz="1200" dirty="0"/>
          </a:p>
        </p:txBody>
      </p:sp>
      <p:sp>
        <p:nvSpPr>
          <p:cNvPr id="61" name="Item6 title"/>
          <p:cNvSpPr/>
          <p:nvPr/>
        </p:nvSpPr>
        <p:spPr>
          <a:xfrm>
            <a:off x="5029200" y="3474720"/>
            <a:ext cx="3657600" cy="320040"/>
          </a:xfrm>
          <a:prstGeom prst="rect">
            <a:avLst/>
          </a:prstGeom>
          <a:noFill/>
          <a:ln/>
        </p:spPr>
        <p:txBody>
          <a:bodyPr wrap="square" lIns="0" tIns="0" rIns="0" bIns="0" rtlCol="0" anchor="ctr"/>
          <a:lstStyle/>
          <a:p>
            <a:pPr marL="0" indent="0">
              <a:buNone/>
            </a:pPr>
            <a:r>
              <a:rPr lang="en-US" sz="1200" b="1" dirty="0">
                <a:solidFill>
                  <a:srgbClr val="232F3E"/>
                </a:solidFill>
                <a:latin typeface="Calibri" pitchFamily="34" charset="0"/>
                <a:ea typeface="Calibri" pitchFamily="34" charset="-122"/>
                <a:cs typeface="Calibri" pitchFamily="34" charset="-120"/>
              </a:rPr>
              <a:t>Reproducible simulation assets</a:t>
            </a:r>
            <a:endParaRPr lang="en-US" sz="1200" dirty="0"/>
          </a:p>
        </p:txBody>
      </p:sp>
      <p:sp>
        <p:nvSpPr>
          <p:cNvPr id="62" name="Item6 body"/>
          <p:cNvSpPr/>
          <p:nvPr/>
        </p:nvSpPr>
        <p:spPr>
          <a:xfrm>
            <a:off x="5029200" y="3794760"/>
            <a:ext cx="3657600" cy="411480"/>
          </a:xfrm>
          <a:prstGeom prst="rect">
            <a:avLst/>
          </a:prstGeom>
          <a:noFill/>
          <a:ln/>
        </p:spPr>
        <p:txBody>
          <a:bodyPr wrap="square" lIns="0" tIns="0" rIns="0" bIns="0" rtlCol="0" anchor="t"/>
          <a:lstStyle/>
          <a:p>
            <a:pPr marL="0" indent="0">
              <a:lnSpc>
                <a:spcPts val="1300"/>
              </a:lnSpc>
              <a:buNone/>
            </a:pPr>
            <a:r>
              <a:rPr lang="en-US" sz="1000" dirty="0">
                <a:solidFill>
                  <a:srgbClr val="444444"/>
                </a:solidFill>
                <a:latin typeface="Calibri" pitchFamily="34" charset="0"/>
                <a:ea typeface="Calibri" pitchFamily="34" charset="-122"/>
                <a:cs typeface="Calibri" pitchFamily="34" charset="-120"/>
              </a:rPr>
              <a:t>Runnable Python script and editable JSON inputs so you can re-run with new assumptions.</a:t>
            </a:r>
            <a:endParaRPr lang="en-US" sz="1000" dirty="0"/>
          </a:p>
        </p:txBody>
      </p:sp>
      <p:sp>
        <p:nvSpPr>
          <p:cNvPr id="70" name="Footer band"/>
          <p:cNvSpPr/>
          <p:nvPr/>
        </p:nvSpPr>
        <p:spPr>
          <a:xfrm>
            <a:off x="548640" y="4297680"/>
            <a:ext cx="8229600" cy="411480"/>
          </a:xfrm>
          <a:prstGeom prst="roundRect">
            <a:avLst>
              <a:gd name="adj" fmla="val 12500"/>
            </a:avLst>
          </a:prstGeom>
          <a:solidFill>
            <a:srgbClr val="232F3E"/>
          </a:solidFill>
          <a:ln/>
        </p:spPr>
        <p:txBody>
          <a:bodyPr wrap="square" lIns="91440" tIns="45720" rIns="91440" bIns="4572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Plus:  </a:t>
            </a:r>
            <a:r>
              <a:rPr lang="en-US" sz="1100" b="1" dirty="0">
                <a:solidFill>
                  <a:srgbClr val="FF9900"/>
                </a:solidFill>
                <a:latin typeface="Calibri" pitchFamily="34" charset="0"/>
                <a:ea typeface="Calibri" pitchFamily="34" charset="-122"/>
                <a:cs typeface="Calibri" pitchFamily="34" charset="-120"/>
              </a:rPr>
              <a:t>double-counting check, non-financial value, strategic value, and risk of inaction</a:t>
            </a:r>
            <a:endParaRPr lang="en-US" sz="1100" dirty="0"/>
          </a:p>
        </p:txBody>
      </p:sp>
      <p:sp>
        <p:nvSpPr>
          <p:cNvPr id="71" name="Text Footer page"/>
          <p:cNvSpPr/>
          <p:nvPr/>
        </p:nvSpPr>
        <p:spPr>
          <a:xfrm>
            <a:off x="457200" y="4846320"/>
            <a:ext cx="8229600" cy="228600"/>
          </a:xfrm>
          <a:prstGeom prst="rect">
            <a:avLst/>
          </a:prstGeom>
          <a:noFill/>
          <a:ln/>
        </p:spPr>
        <p:txBody>
          <a:bodyPr wrap="square" lIns="0" tIns="0" rIns="0" bIns="0" rtlCol="0" anchor="ctr"/>
          <a:lstStyle/>
          <a:p>
            <a:pPr marL="0" indent="0">
              <a:buNone/>
            </a:pPr>
            <a:r>
              <a:rPr lang="en-US" sz="800" dirty="0">
                <a:solidFill>
                  <a:srgbClr val="8899A6"/>
                </a:solidFill>
              </a:rPr>
              <a:t>BVIF  ·  Appendix  ·  14 / 14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1432</Words>
  <Application>Microsoft Macintosh PowerPoint</Application>
  <PresentationFormat>On-screen Show (16:9)</PresentationFormat>
  <Paragraphs>253</Paragraphs>
  <Slides>15</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Value Identification Framework (BVIF)</dc:title>
  <dc:subject>PptxGenJS Presentation</dc:subject>
  <dc:creator>Mau Munoz</dc:creator>
  <cp:lastModifiedBy>Munoz, Mau</cp:lastModifiedBy>
  <cp:revision>13</cp:revision>
  <dcterms:created xsi:type="dcterms:W3CDTF">2026-06-08T21:54:46Z</dcterms:created>
  <dcterms:modified xsi:type="dcterms:W3CDTF">2026-06-16T22:12:42Z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2026-06-16T15:20:15Z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3ba129ef-ec0c-4bf3-a674-380296a0cb92</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ies>
</file>