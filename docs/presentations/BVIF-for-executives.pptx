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4528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 BVIF — framed for FinTech CxOs.</a:t>
            </a:r>
          </a:p>
          <a:p>
            <a:endParaRPr/>
          </a:p>
          <a:p>
            <a:r>
              <a:t>The problem: AI is now a material line item in tech budgets, but most of that spend is not converting into earnings. IDC reports 50% of GenAI PoCs never reach production. McKinsey reports 80% of organizations see no tangible EBIT impact from GenAI. For a FinTech CFO or COO, that translates directly into capital tied up in pilots that never improve the cost-to-income ratio, the loss ratio, or unit economics. The root cause is consistent: AI initiatives are funded on technical feasibility or vendor narrative, not on a quantified business case tied to FSI KPIs.</a:t>
            </a:r>
          </a:p>
          <a:p>
            <a:endParaRPr/>
          </a:p>
          <a:p>
            <a:r>
              <a:t>BVIF — the AI Business Value Identification Framework — is an AGENTIC-GUIDED, systematic mechanism to evaluate the business value of an AI initiative BEFORE you commit capital and AFTER it is in production. An AI agent runs the framework end-to-end, replacing the manual spreadsheet-and-meetings approach most teams use today: faster, more consistent across initiatives, fully auditable, and cheaper to repeat at scale.</a:t>
            </a:r>
          </a:p>
          <a:p>
            <a:endParaRPr/>
          </a:p>
          <a:p>
            <a:r>
              <a:t>Three benefits framed for the C-suite:</a:t>
            </a:r>
          </a:p>
          <a:p>
            <a:r>
              <a:t>1. PRIORITIZE CAPITAL ALLOCATION — Every initiative produces a comparable annualized $ value, NPV, ROI and payback period. That feeds directly into your investment committee and lets you rank the AI portfolio the same way you rank any other capex/opex decision — fund the top-quartile, defund or rescope the rest.</a:t>
            </a:r>
          </a:p>
          <a:p>
            <a:r>
              <a:t>2. ANCHOR ON FSI KPIs — BVIF forces every projected benefit to map to a metric your CFO, COO and regulators already track. Banking and lending: cost-to-income ratio, NIM, NPL ratio, RWA, capital efficiency, KYC/AML cycle time. Payments: STP rate, fraud loss bps, interchange margin, chargeback rate, transaction unit cost. Insurance: combined ratio, loss ratio, claims AHT, persistency. Wealth/asset mgmt: AUM, advisor productivity, client onboarding TAT. Cross-cutting: CAC/LTV, FTE productivity, regulatory remediation cost. No vanity tech metrics.</a:t>
            </a:r>
          </a:p>
          <a:p>
            <a:r>
              <a:t>3. VALIDATE REALIZED VALUE — Re-run BVIF ~12 months post-deployment to confirm projected $ value materialized in the P&amp;L. Initiatives that delivered earn re-investment; initiatives that did not get cut or restructured. This is the value-realization discipline the board expects on every other capital decision.</a:t>
            </a:r>
          </a:p>
          <a:p>
            <a:endParaRPr/>
          </a:p>
          <a:p>
            <a:r>
              <a:t>Bottom strip is the cost of NOT doing this — without something like BVIF, FinTechs are inheriting the IDC and McKinsey numbers directly into their tech investment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How BVIF works — agentic, not manual.</a:t>
            </a:r>
          </a:p>
          <a:p>
            <a:endParaRPr/>
          </a:p>
          <a:p>
            <a:r>
              <a:t>Most business cases for AI today are built manually: an analyst, a few stakeholder interviews, a spreadsheet, weeks of back-and-forth, and a deck whose assumptions no one can later trace. BVIF replaces that with an AI AGENT that runs the full 7-step process. The agent asks the right questions, identifies the right metrics, captures every assumption, performs the arithmetic, and produces an audit-ready output. Your team supplies business context; the agent drives structure, rigor and traceability — and the same evaluation can be repeated across dozens of initiatives at near-zero marginal cost.</a:t>
            </a:r>
          </a:p>
          <a:p>
            <a:endParaRPr/>
          </a:p>
          <a:p>
            <a:r>
              <a:t>Three phases, seven steps:</a:t>
            </a:r>
          </a:p>
          <a:p>
            <a:r>
              <a:t>DISCOVERY (Steps 1–2). Capture the AI idea in business language and map it to value categories — revenue uplift, cost reduction, risk / loss avoidance, regulatory &amp; capital efficiency, customer experience.</a:t>
            </a:r>
          </a:p>
          <a:p>
            <a:r>
              <a:t>METRICS (Steps 3–4). Identify candidate FSI KPIs for each category — e.g. STP rate, fraud loss bps, cost-to-income ratio, NPL ratio, AHT, KYC/AML cycle time, AUM per advisor — then adjust based on data availability and feasibility (F1 measurable / F2 needs proxy / F3 not feasible).</a:t>
            </a:r>
          </a:p>
          <a:p>
            <a:r>
              <a:t>QUANTIFICATION (Steps 5–7). Collect data points (inline or via uploaded source documents), calculate annualized $ value with explicit arithmetic, and output a final document where every figure ties back to a source. From there it is one step to NPV, ROI and payback for the investment committee.</a:t>
            </a:r>
          </a:p>
          <a:p>
            <a:endParaRPr/>
          </a:p>
          <a:p>
            <a:r>
              <a:t>Worked example (manufacturing, used as an analog): a one-line predictive-maintenance idea was converted into $9.36M/year in quantified annual value — recovered capacity, maintenance cost reduction, penalty avoidance — every figure conservative, peer-validated, traceable. Translate that pattern to FSI: an AI-driven fraud screening initiative becomes 'reduce fraud loss bps by X across $Y of annual transaction volume = $Z'; an AML automation initiative becomes 'cut KYC cycle time by N days, reduce remediation FTE cost by $M, avoid regulatory finding of size R'.</a:t>
            </a:r>
          </a:p>
          <a:p>
            <a:endParaRPr/>
          </a:p>
          <a:p>
            <a:r>
              <a:t>Three properties to emphasize:</a:t>
            </a:r>
          </a:p>
          <a:p>
            <a:r>
              <a:t>• AGENTIC, NOT MANUAL — runs in hours instead of weeks, consistent across every initiative, and scales to a portfolio without adding headcount.</a:t>
            </a:r>
          </a:p>
          <a:p>
            <a:r>
              <a:t>• APPROVAL GATES — the agent never advances a stage without explicit sign-off from the business sponsor. Not a black box.</a:t>
            </a:r>
          </a:p>
          <a:p>
            <a:r>
              <a:t>• AUDIT-READY — every interaction, data point and calculation is captured in numbered files. Hand it to finance, internal audit, model risk management or the board with no rework.</a:t>
            </a:r>
          </a:p>
          <a:p>
            <a:endParaRPr/>
          </a:p>
          <a:p>
            <a:r>
              <a:t>Where it fits for FinTech CxOs: BVIF is the lens you apply at every funding gate — investment committee submissions, portfolio reviews, post-launch value realization. It complements build/buy frameworks like AVA: AVA helps you BUILD the agentic solution; BVIF tells you WHETHER IT IS WORTH BUILDING and proves whether it paid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6858000"/>
          </a:xfrm>
          <a:prstGeom prst="rect">
            <a:avLst/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20624" y="329184"/>
            <a:ext cx="164592" cy="164592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C6D1E3"/>
                </a:solidFill>
                <a:latin typeface="Calibri"/>
              </a:rPr>
              <a:t>AWS  ·  AI BUSINESS VALUE IDENTIFICATION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7432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spc="200">
                <a:solidFill>
                  <a:srgbClr val="C6D1E3"/>
                </a:solidFill>
                <a:latin typeface="Calibri"/>
              </a:rPr>
              <a:t>For FinTech executives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73039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FF9900"/>
                </a:solidFill>
                <a:latin typeface="Calibri"/>
              </a:rPr>
              <a:t>WHY BVIF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993079"/>
            <a:ext cx="10789920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dirty="0">
                <a:solidFill>
                  <a:srgbClr val="F7F9FC"/>
                </a:solidFill>
                <a:latin typeface="Calibri"/>
              </a:rPr>
              <a:t>Quantify the </a:t>
            </a:r>
            <a:r>
              <a:rPr lang="en-US" sz="3600" b="1" dirty="0">
                <a:solidFill>
                  <a:srgbClr val="F7F9FC"/>
                </a:solidFill>
                <a:latin typeface="Calibri"/>
              </a:rPr>
              <a:t>Business </a:t>
            </a:r>
            <a:r>
              <a:rPr sz="3600" b="1" i="0" dirty="0">
                <a:solidFill>
                  <a:srgbClr val="F7F9FC"/>
                </a:solidFill>
                <a:latin typeface="Calibri"/>
              </a:rPr>
              <a:t>impact of every AI initiative —</a:t>
            </a:r>
          </a:p>
          <a:p>
            <a:pPr algn="l"/>
            <a:r>
              <a:rPr sz="3600" b="1" i="0" dirty="0">
                <a:solidFill>
                  <a:srgbClr val="F7F9FC"/>
                </a:solidFill>
                <a:latin typeface="Calibri"/>
              </a:rPr>
              <a:t>before and after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18959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C6D1E3"/>
                </a:solidFill>
                <a:latin typeface="Calibri"/>
              </a:rPr>
              <a:t>An agentic-guided framework that converts AI ideas into measurable $ — replacing manual, spreadsheet-driven business cases.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050479"/>
            <a:ext cx="3611880" cy="2606040"/>
          </a:xfrm>
          <a:prstGeom prst="roundRect">
            <a:avLst>
              <a:gd name="adj" fmla="val 8000"/>
            </a:avLst>
          </a:prstGeom>
          <a:solidFill>
            <a:srgbClr val="122A54"/>
          </a:solidFill>
          <a:ln w="9525">
            <a:solidFill>
              <a:srgbClr val="2A4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97280" y="3416239"/>
            <a:ext cx="594360" cy="59436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3416239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111111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147759"/>
            <a:ext cx="2788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7F9FC"/>
                </a:solidFill>
                <a:latin typeface="Calibri"/>
              </a:rPr>
              <a:t>Prioritize Capital Allocation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792093"/>
            <a:ext cx="2788920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>
                <a:solidFill>
                  <a:srgbClr val="C6D1E3"/>
                </a:solidFill>
                <a:latin typeface="Calibri"/>
              </a:rPr>
              <a:t>Rank AI </a:t>
            </a:r>
            <a:r>
              <a:rPr lang="en-US" sz="1300" b="0" i="0" dirty="0">
                <a:solidFill>
                  <a:srgbClr val="C6D1E3"/>
                </a:solidFill>
                <a:latin typeface="Calibri"/>
              </a:rPr>
              <a:t>initiatives based on their business value potential</a:t>
            </a:r>
            <a:r>
              <a:rPr sz="1300" b="0" i="0" dirty="0">
                <a:solidFill>
                  <a:srgbClr val="C6D1E3"/>
                </a:solidFill>
                <a:latin typeface="Calibri"/>
              </a:rPr>
              <a:t> — fund the highest-yield initiatives, defund the rest.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3050479"/>
            <a:ext cx="3611880" cy="2606040"/>
          </a:xfrm>
          <a:prstGeom prst="roundRect">
            <a:avLst>
              <a:gd name="adj" fmla="val 8000"/>
            </a:avLst>
          </a:prstGeom>
          <a:solidFill>
            <a:srgbClr val="122A54"/>
          </a:solidFill>
          <a:ln w="9525">
            <a:solidFill>
              <a:srgbClr val="2A4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892040" y="3416239"/>
            <a:ext cx="594360" cy="594360"/>
          </a:xfrm>
          <a:prstGeom prst="ellipse">
            <a:avLst/>
          </a:prstGeom>
          <a:solidFill>
            <a:srgbClr val="1F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92040" y="3416239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111111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4147759"/>
            <a:ext cx="2788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7F9FC"/>
                </a:solidFill>
                <a:latin typeface="Calibri"/>
              </a:rPr>
              <a:t>Anchor on FSI KPIs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4696399"/>
            <a:ext cx="2788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C6D1E3"/>
                </a:solidFill>
                <a:latin typeface="Calibri"/>
              </a:rPr>
              <a:t>Tie every initiative to metrics your CFO and regulators track: cost-to-income, NIM, fraud loss, AUM, AHT, STP rate, CAC/LTV.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3050479"/>
            <a:ext cx="3611880" cy="2606040"/>
          </a:xfrm>
          <a:prstGeom prst="roundRect">
            <a:avLst>
              <a:gd name="adj" fmla="val 8000"/>
            </a:avLst>
          </a:prstGeom>
          <a:solidFill>
            <a:srgbClr val="122A54"/>
          </a:solidFill>
          <a:ln w="9525">
            <a:solidFill>
              <a:srgbClr val="2A4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686800" y="3416239"/>
            <a:ext cx="594360" cy="594360"/>
          </a:xfrm>
          <a:prstGeom prst="ellipse">
            <a:avLst/>
          </a:prstGeom>
          <a:solidFill>
            <a:srgbClr val="26C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0" y="3416239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111111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147759"/>
            <a:ext cx="2788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7F9FC"/>
                </a:solidFill>
                <a:latin typeface="Calibri"/>
              </a:rPr>
              <a:t>Validate Realized 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4696399"/>
            <a:ext cx="2788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C6D1E3"/>
                </a:solidFill>
                <a:latin typeface="Calibri"/>
              </a:rPr>
              <a:t>Re-run BVIF ~12 months post-deployment to confirm projected $ value materialized — accountability, not assumptions.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793679"/>
            <a:ext cx="10835640" cy="365760"/>
          </a:xfrm>
          <a:prstGeom prst="roundRect">
            <a:avLst>
              <a:gd name="adj" fmla="val 50000"/>
            </a:avLst>
          </a:prstGeom>
          <a:solidFill>
            <a:srgbClr val="122A54"/>
          </a:solidFill>
          <a:ln w="9525">
            <a:solidFill>
              <a:srgbClr val="2A4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5793679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C6D1E3"/>
                </a:solidFill>
                <a:latin typeface="Calibri"/>
              </a:rPr>
              <a:t>The cost of getting this wrong:  50% of GenAI PoCs never reach production (IDC)   ·   80% of firms report zero EBIT impact from GenAI spend (McKinsey)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C6D1E3"/>
                </a:solidFill>
                <a:latin typeface="Calibri"/>
              </a:rPr>
              <a:t>© 2026, Amazon Web Services, Inc. or its affiliates. All rights reserved.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C6D1E3"/>
                </a:solidFill>
                <a:latin typeface="Calibri"/>
              </a:rPr>
              <a:t>1 /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20624" y="329184"/>
            <a:ext cx="164592" cy="164592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C6D1E3"/>
                </a:solidFill>
                <a:latin typeface="Calibri"/>
              </a:rPr>
              <a:t>AWS  ·  AI BUSINESS VALUE IDENTIFICATION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7432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spc="200">
                <a:solidFill>
                  <a:srgbClr val="C6D1E3"/>
                </a:solidFill>
                <a:latin typeface="Calibri"/>
              </a:rPr>
              <a:t>For FinTech executives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66709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FF9900"/>
                </a:solidFill>
                <a:latin typeface="Calibri"/>
              </a:rPr>
              <a:t>HOW BVIF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86749"/>
            <a:ext cx="107899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F7F9FC"/>
                </a:solidFill>
                <a:latin typeface="Calibri"/>
              </a:rPr>
              <a:t>From a plain-language AI idea to a quantified business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25655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C6D1E3"/>
                </a:solidFill>
                <a:latin typeface="Calibri"/>
              </a:rPr>
              <a:t>An AI agent runs the 7-step process — not a manual spreadsheet exercise. Approval gates at every step. Full audit trail end-to-end.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11455"/>
            <a:ext cx="3017518" cy="365760"/>
          </a:xfrm>
          <a:prstGeom prst="roundRect">
            <a:avLst>
              <a:gd name="adj" fmla="val 40000"/>
            </a:avLst>
          </a:prstGeom>
          <a:solidFill>
            <a:srgbClr val="122A54"/>
          </a:solidFill>
          <a:ln w="9525">
            <a:solidFill>
              <a:srgbClr val="1F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411455"/>
            <a:ext cx="301751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 spc="300">
                <a:solidFill>
                  <a:srgbClr val="1F9BFF"/>
                </a:solidFill>
                <a:latin typeface="Calibri"/>
              </a:rPr>
              <a:t>DISCOVERY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3046" y="2411455"/>
            <a:ext cx="3017518" cy="365760"/>
          </a:xfrm>
          <a:prstGeom prst="roundRect">
            <a:avLst>
              <a:gd name="adj" fmla="val 40000"/>
            </a:avLst>
          </a:prstGeom>
          <a:solidFill>
            <a:srgbClr val="122A54"/>
          </a:solidFill>
          <a:ln w="9525">
            <a:solidFill>
              <a:srgbClr val="26C2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13046" y="2411455"/>
            <a:ext cx="301751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 spc="300">
                <a:solidFill>
                  <a:srgbClr val="26C281"/>
                </a:solidFill>
                <a:latin typeface="Calibri"/>
              </a:rPr>
              <a:t>METRICS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0292" y="2411455"/>
            <a:ext cx="4581141" cy="365760"/>
          </a:xfrm>
          <a:prstGeom prst="roundRect">
            <a:avLst>
              <a:gd name="adj" fmla="val 40000"/>
            </a:avLst>
          </a:prstGeom>
          <a:solidFill>
            <a:srgbClr val="122A54"/>
          </a:solidFill>
          <a:ln w="9525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0292" y="2411455"/>
            <a:ext cx="458114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 spc="300">
                <a:solidFill>
                  <a:srgbClr val="FF9900"/>
                </a:solidFill>
                <a:latin typeface="Calibri"/>
              </a:rPr>
              <a:t>QUANTIFICATION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05815"/>
            <a:ext cx="1453895" cy="1691640"/>
          </a:xfrm>
          <a:prstGeom prst="roundRect">
            <a:avLst>
              <a:gd name="adj" fmla="val 8000"/>
            </a:avLst>
          </a:prstGeom>
          <a:solidFill>
            <a:srgbClr val="122A54"/>
          </a:solidFill>
          <a:ln w="9525">
            <a:solidFill>
              <a:srgbClr val="2A4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61287" y="3165835"/>
            <a:ext cx="502920" cy="502920"/>
          </a:xfrm>
          <a:prstGeom prst="ellipse">
            <a:avLst/>
          </a:prstGeom>
          <a:solidFill>
            <a:srgbClr val="1F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61287" y="3165835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111111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74495"/>
            <a:ext cx="136245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7F9FC"/>
                </a:solidFill>
                <a:latin typeface="Calibri"/>
              </a:rPr>
              <a:t>Define</a:t>
            </a:r>
          </a:p>
          <a:p>
            <a:pPr algn="ctr"/>
            <a:r>
              <a:rPr sz="1200" b="1" i="0">
                <a:solidFill>
                  <a:srgbClr val="F7F9FC"/>
                </a:solidFill>
                <a:latin typeface="Calibri"/>
              </a:rPr>
              <a:t>the initiative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49423" y="3005815"/>
            <a:ext cx="1453895" cy="1691640"/>
          </a:xfrm>
          <a:prstGeom prst="roundRect">
            <a:avLst>
              <a:gd name="adj" fmla="val 8000"/>
            </a:avLst>
          </a:prstGeom>
          <a:solidFill>
            <a:srgbClr val="122A54"/>
          </a:solidFill>
          <a:ln w="9525">
            <a:solidFill>
              <a:srgbClr val="2A4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724910" y="3165835"/>
            <a:ext cx="502920" cy="502920"/>
          </a:xfrm>
          <a:prstGeom prst="ellipse">
            <a:avLst/>
          </a:prstGeom>
          <a:solidFill>
            <a:srgbClr val="1F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24910" y="3165835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111111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95143" y="3874495"/>
            <a:ext cx="136245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7F9FC"/>
                </a:solidFill>
                <a:latin typeface="Calibri"/>
              </a:rPr>
              <a:t>Map business</a:t>
            </a:r>
          </a:p>
          <a:p>
            <a:pPr algn="ctr"/>
            <a:r>
              <a:rPr sz="1200" b="1" i="0">
                <a:solidFill>
                  <a:srgbClr val="F7F9FC"/>
                </a:solidFill>
                <a:latin typeface="Calibri"/>
              </a:rPr>
              <a:t>value categories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13046" y="3005815"/>
            <a:ext cx="1453895" cy="1691640"/>
          </a:xfrm>
          <a:prstGeom prst="roundRect">
            <a:avLst>
              <a:gd name="adj" fmla="val 8000"/>
            </a:avLst>
          </a:prstGeom>
          <a:solidFill>
            <a:srgbClr val="122A54"/>
          </a:solidFill>
          <a:ln w="9525">
            <a:solidFill>
              <a:srgbClr val="2A4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288533" y="3165835"/>
            <a:ext cx="502920" cy="502920"/>
          </a:xfrm>
          <a:prstGeom prst="ellipse">
            <a:avLst/>
          </a:prstGeom>
          <a:solidFill>
            <a:srgbClr val="26C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88533" y="3165835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111111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58766" y="3874495"/>
            <a:ext cx="136245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7F9FC"/>
                </a:solidFill>
                <a:latin typeface="Calibri"/>
              </a:rPr>
              <a:t>Identify</a:t>
            </a:r>
          </a:p>
          <a:p>
            <a:pPr algn="ctr"/>
            <a:r>
              <a:rPr sz="1200" b="1" i="0">
                <a:solidFill>
                  <a:srgbClr val="F7F9FC"/>
                </a:solidFill>
                <a:latin typeface="Calibri"/>
              </a:rPr>
              <a:t>metrics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76669" y="3005815"/>
            <a:ext cx="1453895" cy="1691640"/>
          </a:xfrm>
          <a:prstGeom prst="roundRect">
            <a:avLst>
              <a:gd name="adj" fmla="val 8000"/>
            </a:avLst>
          </a:prstGeom>
          <a:solidFill>
            <a:srgbClr val="122A54"/>
          </a:solidFill>
          <a:ln w="9525">
            <a:solidFill>
              <a:srgbClr val="2A4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852156" y="3165835"/>
            <a:ext cx="502920" cy="502920"/>
          </a:xfrm>
          <a:prstGeom prst="ellipse">
            <a:avLst/>
          </a:prstGeom>
          <a:solidFill>
            <a:srgbClr val="26C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852156" y="3165835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111111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22389" y="3874495"/>
            <a:ext cx="136245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7F9FC"/>
                </a:solidFill>
                <a:latin typeface="Calibri"/>
              </a:rPr>
              <a:t>Adjust</a:t>
            </a:r>
          </a:p>
          <a:p>
            <a:pPr algn="ctr"/>
            <a:r>
              <a:rPr sz="1200" b="1" i="0">
                <a:solidFill>
                  <a:srgbClr val="F7F9FC"/>
                </a:solidFill>
                <a:latin typeface="Calibri"/>
              </a:rPr>
              <a:t>for feasibility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40292" y="3005815"/>
            <a:ext cx="1453895" cy="1691640"/>
          </a:xfrm>
          <a:prstGeom prst="roundRect">
            <a:avLst>
              <a:gd name="adj" fmla="val 8000"/>
            </a:avLst>
          </a:prstGeom>
          <a:solidFill>
            <a:srgbClr val="122A54"/>
          </a:solidFill>
          <a:ln w="9525">
            <a:solidFill>
              <a:srgbClr val="2A4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415779" y="3165835"/>
            <a:ext cx="502920" cy="50292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15779" y="3165835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111111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2" y="3874495"/>
            <a:ext cx="136245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7F9FC"/>
                </a:solidFill>
                <a:latin typeface="Calibri"/>
              </a:rPr>
              <a:t>Collect</a:t>
            </a:r>
          </a:p>
          <a:p>
            <a:pPr algn="ctr"/>
            <a:r>
              <a:rPr sz="1200" b="1" i="0">
                <a:solidFill>
                  <a:srgbClr val="F7F9FC"/>
                </a:solidFill>
                <a:latin typeface="Calibri"/>
              </a:rPr>
              <a:t>data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03915" y="3005815"/>
            <a:ext cx="1453895" cy="1691640"/>
          </a:xfrm>
          <a:prstGeom prst="roundRect">
            <a:avLst>
              <a:gd name="adj" fmla="val 8000"/>
            </a:avLst>
          </a:prstGeom>
          <a:solidFill>
            <a:srgbClr val="122A54"/>
          </a:solidFill>
          <a:ln w="9525">
            <a:solidFill>
              <a:srgbClr val="2A4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979402" y="3165835"/>
            <a:ext cx="502920" cy="50292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979402" y="3165835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111111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9635" y="3874495"/>
            <a:ext cx="136245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7F9FC"/>
                </a:solidFill>
                <a:latin typeface="Calibri"/>
              </a:rPr>
              <a:t>Calculate</a:t>
            </a:r>
          </a:p>
          <a:p>
            <a:pPr algn="ctr"/>
            <a:r>
              <a:rPr sz="1200" b="1" i="0">
                <a:solidFill>
                  <a:srgbClr val="F7F9FC"/>
                </a:solidFill>
                <a:latin typeface="Calibri"/>
              </a:rPr>
              <a:t>business value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67538" y="3005815"/>
            <a:ext cx="1453895" cy="1691640"/>
          </a:xfrm>
          <a:prstGeom prst="roundRect">
            <a:avLst>
              <a:gd name="adj" fmla="val 8000"/>
            </a:avLst>
          </a:prstGeom>
          <a:solidFill>
            <a:srgbClr val="122A54"/>
          </a:solidFill>
          <a:ln w="9525">
            <a:solidFill>
              <a:srgbClr val="2A4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0543025" y="3165835"/>
            <a:ext cx="502920" cy="50292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543025" y="3165835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111111"/>
                </a:solidFill>
                <a:latin typeface="Calibri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13258" y="3874495"/>
            <a:ext cx="136245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7F9FC"/>
                </a:solidFill>
                <a:latin typeface="Calibri"/>
              </a:rPr>
              <a:t>Final</a:t>
            </a:r>
          </a:p>
          <a:p>
            <a:pPr algn="ctr"/>
            <a:r>
              <a:rPr sz="1200" b="1" i="0">
                <a:solidFill>
                  <a:srgbClr val="F7F9FC"/>
                </a:solidFill>
                <a:latin typeface="Calibri"/>
              </a:rPr>
              <a:t>results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" y="4971775"/>
            <a:ext cx="3749039" cy="777240"/>
          </a:xfrm>
          <a:prstGeom prst="roundRect">
            <a:avLst>
              <a:gd name="adj" fmla="val 8000"/>
            </a:avLst>
          </a:prstGeom>
          <a:solidFill>
            <a:srgbClr val="122A54"/>
          </a:solidFill>
          <a:ln w="9525">
            <a:solidFill>
              <a:srgbClr val="1F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85800" y="5063215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1F9BFF"/>
                </a:solidFill>
                <a:latin typeface="Calibri"/>
              </a:rPr>
              <a:t>START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5337535"/>
            <a:ext cx="37490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F7F9FC"/>
                </a:solidFill>
                <a:latin typeface="Calibri"/>
              </a:rPr>
              <a:t>AI idea  (plain language)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4617720" y="5246095"/>
            <a:ext cx="2926080" cy="274320"/>
          </a:xfrm>
          <a:prstGeom prst="rightArrow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617718" y="5087670"/>
            <a:ext cx="29260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1" dirty="0">
                <a:solidFill>
                  <a:srgbClr val="FFD166"/>
                </a:solidFill>
                <a:latin typeface="Calibri"/>
              </a:rPr>
              <a:t>AI agent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26679" y="4971775"/>
            <a:ext cx="3931920" cy="777240"/>
          </a:xfrm>
          <a:prstGeom prst="roundRect">
            <a:avLst>
              <a:gd name="adj" fmla="val 8000"/>
            </a:avLst>
          </a:prstGeom>
          <a:solidFill>
            <a:srgbClr val="122A54"/>
          </a:solidFill>
          <a:ln w="9525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726679" y="5063215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FF9900"/>
                </a:solidFill>
                <a:latin typeface="Calibri"/>
              </a:rPr>
              <a:t>RESULT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26679" y="5337535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F7F9FC"/>
                </a:solidFill>
                <a:latin typeface="Calibri"/>
              </a:rPr>
              <a:t>$  annualized P&amp;L impact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8027" y="5966973"/>
            <a:ext cx="108356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 dirty="0">
                <a:solidFill>
                  <a:srgbClr val="C6D1E3"/>
                </a:solidFill>
                <a:latin typeface="Calibri"/>
              </a:rPr>
              <a:t>Agent-led·</a:t>
            </a:r>
            <a:r>
              <a:rPr lang="en-US" sz="1100" b="0" i="0" dirty="0">
                <a:solidFill>
                  <a:srgbClr val="C6D1E3"/>
                </a:solidFill>
                <a:latin typeface="Calibri"/>
              </a:rPr>
              <a:t> </a:t>
            </a:r>
            <a:r>
              <a:rPr sz="1100" b="0" i="0" dirty="0">
                <a:solidFill>
                  <a:srgbClr val="C6D1E3"/>
                </a:solidFill>
                <a:latin typeface="Calibri"/>
              </a:rPr>
              <a:t>   Approval gates at every step   ·   Audit-ready trail   ·   Grounded in your KPIs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C6D1E3"/>
                </a:solidFill>
                <a:latin typeface="Calibri"/>
              </a:rPr>
              <a:t>© 2026, Amazon Web Services, Inc. or its affiliates. All rights reserved.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C6D1E3"/>
                </a:solidFill>
                <a:latin typeface="Calibri"/>
              </a:rPr>
              <a:t>2 /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1279</Words>
  <Application>Microsoft Macintosh PowerPoint</Application>
  <PresentationFormat>Widescreen</PresentationFormat>
  <Paragraphs>84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Munoz, Mau</cp:lastModifiedBy>
  <cp:revision>2</cp:revision>
  <dcterms:created xsi:type="dcterms:W3CDTF">2013-01-27T09:14:16Z</dcterms:created>
  <dcterms:modified xsi:type="dcterms:W3CDTF">2026-05-22T21:57:05Z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2026-05-22T21:57:05Z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4a8b05d9-b9a8-4ea3-9324-278a295f5399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